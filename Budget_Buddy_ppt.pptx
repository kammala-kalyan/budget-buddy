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87" r:id="rId4"/>
    <p:sldId id="288" r:id="rId5"/>
    <p:sldId id="289" r:id="rId6"/>
    <p:sldId id="260" r:id="rId7"/>
    <p:sldId id="272" r:id="rId8"/>
    <p:sldId id="273" r:id="rId9"/>
    <p:sldId id="290" r:id="rId10"/>
    <p:sldId id="282" r:id="rId11"/>
    <p:sldId id="271" r:id="rId12"/>
    <p:sldId id="261" r:id="rId13"/>
    <p:sldId id="275" r:id="rId14"/>
    <p:sldId id="262" r:id="rId15"/>
    <p:sldId id="276" r:id="rId16"/>
    <p:sldId id="263" r:id="rId17"/>
    <p:sldId id="283" r:id="rId18"/>
    <p:sldId id="264" r:id="rId19"/>
    <p:sldId id="277" r:id="rId20"/>
    <p:sldId id="284" r:id="rId21"/>
    <p:sldId id="265" r:id="rId22"/>
    <p:sldId id="285" r:id="rId23"/>
    <p:sldId id="278" r:id="rId24"/>
    <p:sldId id="266" r:id="rId25"/>
    <p:sldId id="267" r:id="rId26"/>
    <p:sldId id="268" r:id="rId27"/>
    <p:sldId id="279" r:id="rId28"/>
    <p:sldId id="269" r:id="rId29"/>
    <p:sldId id="280" r:id="rId30"/>
    <p:sldId id="270" r:id="rId31"/>
    <p:sldId id="291" r:id="rId32"/>
    <p:sldId id="28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3127"/>
    <a:srgbClr val="E8F5EC"/>
    <a:srgbClr val="28805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4BEF7-9C7B-47A5-92C2-5F3192CE58EE}" v="228" dt="2025-05-21T06:06:22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97" d="100"/>
          <a:sy n="97" d="100"/>
        </p:scale>
        <p:origin x="13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5D2D3C-05F5-4A44-BE16-9F26A8A87354}" type="doc">
      <dgm:prSet loTypeId="urn:microsoft.com/office/officeart/2011/layout/CircleProcess" loCatId="process" qsTypeId="urn:microsoft.com/office/officeart/2005/8/quickstyle/simple4" qsCatId="simple" csTypeId="urn:microsoft.com/office/officeart/2005/8/colors/accent6_2" csCatId="accent6" phldr="1"/>
      <dgm:spPr/>
      <dgm:t>
        <a:bodyPr/>
        <a:lstStyle/>
        <a:p>
          <a:endParaRPr lang="en-IN"/>
        </a:p>
      </dgm:t>
    </dgm:pt>
    <dgm:pt modelId="{E53E9895-CB33-482D-9733-4281CBA38654}">
      <dgm:prSet phldrT="[Text]"/>
      <dgm:spPr/>
      <dgm:t>
        <a:bodyPr/>
        <a:lstStyle/>
        <a:p>
          <a:r>
            <a:rPr lang="en-IN" dirty="0">
              <a:latin typeface="+mn-lt"/>
            </a:rPr>
            <a:t>User fills data</a:t>
          </a:r>
        </a:p>
      </dgm:t>
    </dgm:pt>
    <dgm:pt modelId="{C247DD56-341D-46A6-81E9-9125962E0F5C}" type="parTrans" cxnId="{059EC3DD-9A43-4052-81BF-AB11D8716918}">
      <dgm:prSet/>
      <dgm:spPr/>
      <dgm:t>
        <a:bodyPr/>
        <a:lstStyle/>
        <a:p>
          <a:endParaRPr lang="en-IN"/>
        </a:p>
      </dgm:t>
    </dgm:pt>
    <dgm:pt modelId="{B61588C2-31B6-4B61-9616-C6084D8E6203}" type="sibTrans" cxnId="{059EC3DD-9A43-4052-81BF-AB11D8716918}">
      <dgm:prSet/>
      <dgm:spPr/>
      <dgm:t>
        <a:bodyPr/>
        <a:lstStyle/>
        <a:p>
          <a:endParaRPr lang="en-IN"/>
        </a:p>
      </dgm:t>
    </dgm:pt>
    <dgm:pt modelId="{BB3206B4-403D-4485-A371-21819484579B}">
      <dgm:prSet phldrT="[Text]"/>
      <dgm:spPr/>
      <dgm:t>
        <a:bodyPr/>
        <a:lstStyle/>
        <a:p>
          <a:r>
            <a:rPr lang="en-IN" dirty="0"/>
            <a:t>Browser displays inputs</a:t>
          </a:r>
        </a:p>
      </dgm:t>
    </dgm:pt>
    <dgm:pt modelId="{BE451C11-30B2-4028-BF9D-FA2081E70C8E}" type="parTrans" cxnId="{5CC479A3-70BA-4095-9F97-7AE042A35C7F}">
      <dgm:prSet/>
      <dgm:spPr/>
      <dgm:t>
        <a:bodyPr/>
        <a:lstStyle/>
        <a:p>
          <a:endParaRPr lang="en-IN"/>
        </a:p>
      </dgm:t>
    </dgm:pt>
    <dgm:pt modelId="{EB175E71-B61A-49AD-A984-9DBA1DD0CBB5}" type="sibTrans" cxnId="{5CC479A3-70BA-4095-9F97-7AE042A35C7F}">
      <dgm:prSet/>
      <dgm:spPr/>
      <dgm:t>
        <a:bodyPr/>
        <a:lstStyle/>
        <a:p>
          <a:endParaRPr lang="en-IN"/>
        </a:p>
      </dgm:t>
    </dgm:pt>
    <dgm:pt modelId="{2BEB50A1-1C73-4A38-908A-B8E35AA9077A}">
      <dgm:prSet phldrT="[Text]"/>
      <dgm:spPr/>
      <dgm:t>
        <a:bodyPr/>
        <a:lstStyle/>
        <a:p>
          <a:r>
            <a:rPr lang="en-IN" dirty="0"/>
            <a:t>Flask route writes to MySQL</a:t>
          </a:r>
        </a:p>
      </dgm:t>
    </dgm:pt>
    <dgm:pt modelId="{D6124C85-2430-4E13-B3C3-76BA3168EC73}" type="parTrans" cxnId="{940E48A7-AE01-4A19-822D-08A2F03C2551}">
      <dgm:prSet/>
      <dgm:spPr/>
      <dgm:t>
        <a:bodyPr/>
        <a:lstStyle/>
        <a:p>
          <a:endParaRPr lang="en-IN"/>
        </a:p>
      </dgm:t>
    </dgm:pt>
    <dgm:pt modelId="{1E2FFBDD-033F-4769-A295-55ECFCEFBCBD}" type="sibTrans" cxnId="{940E48A7-AE01-4A19-822D-08A2F03C2551}">
      <dgm:prSet/>
      <dgm:spPr/>
      <dgm:t>
        <a:bodyPr/>
        <a:lstStyle/>
        <a:p>
          <a:endParaRPr lang="en-IN"/>
        </a:p>
      </dgm:t>
    </dgm:pt>
    <dgm:pt modelId="{2DF61E70-834D-4734-B00E-90B4FEB0396F}">
      <dgm:prSet/>
      <dgm:spPr/>
      <dgm:t>
        <a:bodyPr/>
        <a:lstStyle/>
        <a:p>
          <a:r>
            <a:rPr lang="en-IN" dirty="0"/>
            <a:t>Flask route queries to MySQL</a:t>
          </a:r>
        </a:p>
      </dgm:t>
    </dgm:pt>
    <dgm:pt modelId="{D684B782-A1A7-4E06-947D-EFFEE8F69C67}" type="parTrans" cxnId="{925A5BB5-89CA-478E-BB2B-4DC39BFA2F1D}">
      <dgm:prSet/>
      <dgm:spPr/>
      <dgm:t>
        <a:bodyPr/>
        <a:lstStyle/>
        <a:p>
          <a:endParaRPr lang="en-IN"/>
        </a:p>
      </dgm:t>
    </dgm:pt>
    <dgm:pt modelId="{7B88490D-173C-48B5-B9B5-684996BA5073}" type="sibTrans" cxnId="{925A5BB5-89CA-478E-BB2B-4DC39BFA2F1D}">
      <dgm:prSet/>
      <dgm:spPr/>
      <dgm:t>
        <a:bodyPr/>
        <a:lstStyle/>
        <a:p>
          <a:endParaRPr lang="en-IN"/>
        </a:p>
      </dgm:t>
    </dgm:pt>
    <dgm:pt modelId="{CDC89EB6-16D3-4238-82C4-E265EABEC873}" type="pres">
      <dgm:prSet presAssocID="{D95D2D3C-05F5-4A44-BE16-9F26A8A87354}" presName="Name0" presStyleCnt="0">
        <dgm:presLayoutVars>
          <dgm:chMax val="11"/>
          <dgm:chPref val="11"/>
          <dgm:dir/>
          <dgm:resizeHandles/>
        </dgm:presLayoutVars>
      </dgm:prSet>
      <dgm:spPr/>
    </dgm:pt>
    <dgm:pt modelId="{0EDCE1C6-105B-4180-8602-C3A7F8543E61}" type="pres">
      <dgm:prSet presAssocID="{2BEB50A1-1C73-4A38-908A-B8E35AA9077A}" presName="Accent4" presStyleCnt="0"/>
      <dgm:spPr/>
    </dgm:pt>
    <dgm:pt modelId="{D322EBE9-96D0-4993-A10B-42784C5DC762}" type="pres">
      <dgm:prSet presAssocID="{2BEB50A1-1C73-4A38-908A-B8E35AA9077A}" presName="Accent" presStyleLbl="node1" presStyleIdx="0" presStyleCnt="4"/>
      <dgm:spPr/>
    </dgm:pt>
    <dgm:pt modelId="{2CDE8EB4-2F48-4CDE-BE16-80D0106F7488}" type="pres">
      <dgm:prSet presAssocID="{2BEB50A1-1C73-4A38-908A-B8E35AA9077A}" presName="ParentBackground4" presStyleCnt="0"/>
      <dgm:spPr/>
    </dgm:pt>
    <dgm:pt modelId="{8B6E302B-FDAF-4BA9-8CDF-FAD0FD342005}" type="pres">
      <dgm:prSet presAssocID="{2BEB50A1-1C73-4A38-908A-B8E35AA9077A}" presName="ParentBackground" presStyleLbl="fgAcc1" presStyleIdx="0" presStyleCnt="4"/>
      <dgm:spPr/>
    </dgm:pt>
    <dgm:pt modelId="{FA3655E8-BC56-461E-8DB1-476CEF925390}" type="pres">
      <dgm:prSet presAssocID="{2BEB50A1-1C73-4A38-908A-B8E35AA9077A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E7F4C7D0-A63B-4C6B-B801-0022AF54C402}" type="pres">
      <dgm:prSet presAssocID="{BB3206B4-403D-4485-A371-21819484579B}" presName="Accent3" presStyleCnt="0"/>
      <dgm:spPr/>
    </dgm:pt>
    <dgm:pt modelId="{EFF7F71C-CD0C-4732-B99F-4C302A057F27}" type="pres">
      <dgm:prSet presAssocID="{BB3206B4-403D-4485-A371-21819484579B}" presName="Accent" presStyleLbl="node1" presStyleIdx="1" presStyleCnt="4"/>
      <dgm:spPr/>
    </dgm:pt>
    <dgm:pt modelId="{1C1B964D-E466-4F83-8C48-092FE38FA5B7}" type="pres">
      <dgm:prSet presAssocID="{BB3206B4-403D-4485-A371-21819484579B}" presName="ParentBackground3" presStyleCnt="0"/>
      <dgm:spPr/>
    </dgm:pt>
    <dgm:pt modelId="{D216D1CE-9D14-4173-8391-E756EB030053}" type="pres">
      <dgm:prSet presAssocID="{BB3206B4-403D-4485-A371-21819484579B}" presName="ParentBackground" presStyleLbl="fgAcc1" presStyleIdx="1" presStyleCnt="4"/>
      <dgm:spPr/>
    </dgm:pt>
    <dgm:pt modelId="{94A85F5A-581C-4A46-8E66-6CC9A9F4522B}" type="pres">
      <dgm:prSet presAssocID="{BB3206B4-403D-4485-A371-21819484579B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1347B396-608A-4D0F-99C8-1734F6FF7FF1}" type="pres">
      <dgm:prSet presAssocID="{2DF61E70-834D-4734-B00E-90B4FEB0396F}" presName="Accent2" presStyleCnt="0"/>
      <dgm:spPr/>
    </dgm:pt>
    <dgm:pt modelId="{BFC2DB1A-470C-429F-BF41-2E8D4A2B2865}" type="pres">
      <dgm:prSet presAssocID="{2DF61E70-834D-4734-B00E-90B4FEB0396F}" presName="Accent" presStyleLbl="node1" presStyleIdx="2" presStyleCnt="4"/>
      <dgm:spPr/>
    </dgm:pt>
    <dgm:pt modelId="{2D2381FF-984D-4462-9E81-E46A948A12E5}" type="pres">
      <dgm:prSet presAssocID="{2DF61E70-834D-4734-B00E-90B4FEB0396F}" presName="ParentBackground2" presStyleCnt="0"/>
      <dgm:spPr/>
    </dgm:pt>
    <dgm:pt modelId="{6338E588-5A5E-4B00-9272-A888E3C19C3A}" type="pres">
      <dgm:prSet presAssocID="{2DF61E70-834D-4734-B00E-90B4FEB0396F}" presName="ParentBackground" presStyleLbl="fgAcc1" presStyleIdx="2" presStyleCnt="4"/>
      <dgm:spPr/>
    </dgm:pt>
    <dgm:pt modelId="{9AEF4E7A-4984-4500-B78B-377DAE3911F1}" type="pres">
      <dgm:prSet presAssocID="{2DF61E70-834D-4734-B00E-90B4FEB0396F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</dgm:pt>
    <dgm:pt modelId="{4D98D270-0EFB-45A8-9317-256C18EDDB0B}" type="pres">
      <dgm:prSet presAssocID="{E53E9895-CB33-482D-9733-4281CBA38654}" presName="Accent1" presStyleCnt="0"/>
      <dgm:spPr/>
    </dgm:pt>
    <dgm:pt modelId="{0A8BAD15-50F7-4B02-A8F6-B7B017329C8B}" type="pres">
      <dgm:prSet presAssocID="{E53E9895-CB33-482D-9733-4281CBA38654}" presName="Accent" presStyleLbl="node1" presStyleIdx="3" presStyleCnt="4"/>
      <dgm:spPr/>
    </dgm:pt>
    <dgm:pt modelId="{95A2966A-350B-44E4-8380-B7B4844421DC}" type="pres">
      <dgm:prSet presAssocID="{E53E9895-CB33-482D-9733-4281CBA38654}" presName="ParentBackground1" presStyleCnt="0"/>
      <dgm:spPr/>
    </dgm:pt>
    <dgm:pt modelId="{028AF986-7AA0-433F-9AB9-327EF875F283}" type="pres">
      <dgm:prSet presAssocID="{E53E9895-CB33-482D-9733-4281CBA38654}" presName="ParentBackground" presStyleLbl="fgAcc1" presStyleIdx="3" presStyleCnt="4"/>
      <dgm:spPr/>
    </dgm:pt>
    <dgm:pt modelId="{A0E97C63-9A67-4AC5-B0D7-757E532D0C2D}" type="pres">
      <dgm:prSet presAssocID="{E53E9895-CB33-482D-9733-4281CBA38654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</dgm:pt>
  </dgm:ptLst>
  <dgm:cxnLst>
    <dgm:cxn modelId="{0A60170A-3E7C-453E-BBA6-AEEE92173E74}" type="presOf" srcId="{E53E9895-CB33-482D-9733-4281CBA38654}" destId="{A0E97C63-9A67-4AC5-B0D7-757E532D0C2D}" srcOrd="1" destOrd="0" presId="urn:microsoft.com/office/officeart/2011/layout/CircleProcess"/>
    <dgm:cxn modelId="{BA2DAF1B-7D83-43C3-8C5F-697FD4C057AF}" type="presOf" srcId="{2DF61E70-834D-4734-B00E-90B4FEB0396F}" destId="{9AEF4E7A-4984-4500-B78B-377DAE3911F1}" srcOrd="1" destOrd="0" presId="urn:microsoft.com/office/officeart/2011/layout/CircleProcess"/>
    <dgm:cxn modelId="{E1526936-E40D-4974-A170-AF0E8B8C6600}" type="presOf" srcId="{2BEB50A1-1C73-4A38-908A-B8E35AA9077A}" destId="{8B6E302B-FDAF-4BA9-8CDF-FAD0FD342005}" srcOrd="0" destOrd="0" presId="urn:microsoft.com/office/officeart/2011/layout/CircleProcess"/>
    <dgm:cxn modelId="{C2C6A248-B890-4D80-A3B8-4F713F913ED3}" type="presOf" srcId="{2BEB50A1-1C73-4A38-908A-B8E35AA9077A}" destId="{FA3655E8-BC56-461E-8DB1-476CEF925390}" srcOrd="1" destOrd="0" presId="urn:microsoft.com/office/officeart/2011/layout/CircleProcess"/>
    <dgm:cxn modelId="{32589158-4DA8-454B-8383-9D5FC1A90762}" type="presOf" srcId="{E53E9895-CB33-482D-9733-4281CBA38654}" destId="{028AF986-7AA0-433F-9AB9-327EF875F283}" srcOrd="0" destOrd="0" presId="urn:microsoft.com/office/officeart/2011/layout/CircleProcess"/>
    <dgm:cxn modelId="{D043409A-3964-4092-9148-3423CF0E1DE5}" type="presOf" srcId="{BB3206B4-403D-4485-A371-21819484579B}" destId="{94A85F5A-581C-4A46-8E66-6CC9A9F4522B}" srcOrd="1" destOrd="0" presId="urn:microsoft.com/office/officeart/2011/layout/CircleProcess"/>
    <dgm:cxn modelId="{51B6309D-D2AD-482D-9C92-D5A34250B743}" type="presOf" srcId="{BB3206B4-403D-4485-A371-21819484579B}" destId="{D216D1CE-9D14-4173-8391-E756EB030053}" srcOrd="0" destOrd="0" presId="urn:microsoft.com/office/officeart/2011/layout/CircleProcess"/>
    <dgm:cxn modelId="{0669669E-2B58-4765-A0E7-2F8EBC48F77F}" type="presOf" srcId="{D95D2D3C-05F5-4A44-BE16-9F26A8A87354}" destId="{CDC89EB6-16D3-4238-82C4-E265EABEC873}" srcOrd="0" destOrd="0" presId="urn:microsoft.com/office/officeart/2011/layout/CircleProcess"/>
    <dgm:cxn modelId="{5CC479A3-70BA-4095-9F97-7AE042A35C7F}" srcId="{D95D2D3C-05F5-4A44-BE16-9F26A8A87354}" destId="{BB3206B4-403D-4485-A371-21819484579B}" srcOrd="2" destOrd="0" parTransId="{BE451C11-30B2-4028-BF9D-FA2081E70C8E}" sibTransId="{EB175E71-B61A-49AD-A984-9DBA1DD0CBB5}"/>
    <dgm:cxn modelId="{940E48A7-AE01-4A19-822D-08A2F03C2551}" srcId="{D95D2D3C-05F5-4A44-BE16-9F26A8A87354}" destId="{2BEB50A1-1C73-4A38-908A-B8E35AA9077A}" srcOrd="3" destOrd="0" parTransId="{D6124C85-2430-4E13-B3C3-76BA3168EC73}" sibTransId="{1E2FFBDD-033F-4769-A295-55ECFCEFBCBD}"/>
    <dgm:cxn modelId="{925A5BB5-89CA-478E-BB2B-4DC39BFA2F1D}" srcId="{D95D2D3C-05F5-4A44-BE16-9F26A8A87354}" destId="{2DF61E70-834D-4734-B00E-90B4FEB0396F}" srcOrd="1" destOrd="0" parTransId="{D684B782-A1A7-4E06-947D-EFFEE8F69C67}" sibTransId="{7B88490D-173C-48B5-B9B5-684996BA5073}"/>
    <dgm:cxn modelId="{F3295FB9-CD01-4BC3-A72F-5CCC229084E0}" type="presOf" srcId="{2DF61E70-834D-4734-B00E-90B4FEB0396F}" destId="{6338E588-5A5E-4B00-9272-A888E3C19C3A}" srcOrd="0" destOrd="0" presId="urn:microsoft.com/office/officeart/2011/layout/CircleProcess"/>
    <dgm:cxn modelId="{059EC3DD-9A43-4052-81BF-AB11D8716918}" srcId="{D95D2D3C-05F5-4A44-BE16-9F26A8A87354}" destId="{E53E9895-CB33-482D-9733-4281CBA38654}" srcOrd="0" destOrd="0" parTransId="{C247DD56-341D-46A6-81E9-9125962E0F5C}" sibTransId="{B61588C2-31B6-4B61-9616-C6084D8E6203}"/>
    <dgm:cxn modelId="{51F03445-56FF-4228-B3FE-8FBA9C15B89A}" type="presParOf" srcId="{CDC89EB6-16D3-4238-82C4-E265EABEC873}" destId="{0EDCE1C6-105B-4180-8602-C3A7F8543E61}" srcOrd="0" destOrd="0" presId="urn:microsoft.com/office/officeart/2011/layout/CircleProcess"/>
    <dgm:cxn modelId="{063279C6-8039-4A95-9F11-0BBEB95904A0}" type="presParOf" srcId="{0EDCE1C6-105B-4180-8602-C3A7F8543E61}" destId="{D322EBE9-96D0-4993-A10B-42784C5DC762}" srcOrd="0" destOrd="0" presId="urn:microsoft.com/office/officeart/2011/layout/CircleProcess"/>
    <dgm:cxn modelId="{BCC5081D-40BF-47AC-B460-EE4B0A91B39F}" type="presParOf" srcId="{CDC89EB6-16D3-4238-82C4-E265EABEC873}" destId="{2CDE8EB4-2F48-4CDE-BE16-80D0106F7488}" srcOrd="1" destOrd="0" presId="urn:microsoft.com/office/officeart/2011/layout/CircleProcess"/>
    <dgm:cxn modelId="{86DB22B6-A6B5-4E4D-BE50-8348B87535BB}" type="presParOf" srcId="{2CDE8EB4-2F48-4CDE-BE16-80D0106F7488}" destId="{8B6E302B-FDAF-4BA9-8CDF-FAD0FD342005}" srcOrd="0" destOrd="0" presId="urn:microsoft.com/office/officeart/2011/layout/CircleProcess"/>
    <dgm:cxn modelId="{32DE7F47-FF86-4082-A6CB-9B871947C176}" type="presParOf" srcId="{CDC89EB6-16D3-4238-82C4-E265EABEC873}" destId="{FA3655E8-BC56-461E-8DB1-476CEF925390}" srcOrd="2" destOrd="0" presId="urn:microsoft.com/office/officeart/2011/layout/CircleProcess"/>
    <dgm:cxn modelId="{AB4C4BDD-1636-444F-A990-DE9CC066F7EC}" type="presParOf" srcId="{CDC89EB6-16D3-4238-82C4-E265EABEC873}" destId="{E7F4C7D0-A63B-4C6B-B801-0022AF54C402}" srcOrd="3" destOrd="0" presId="urn:microsoft.com/office/officeart/2011/layout/CircleProcess"/>
    <dgm:cxn modelId="{A35C500C-5E88-4309-884D-A26E970EFC4A}" type="presParOf" srcId="{E7F4C7D0-A63B-4C6B-B801-0022AF54C402}" destId="{EFF7F71C-CD0C-4732-B99F-4C302A057F27}" srcOrd="0" destOrd="0" presId="urn:microsoft.com/office/officeart/2011/layout/CircleProcess"/>
    <dgm:cxn modelId="{9A56E6BA-53D7-44FE-BBA9-243F1D961FE6}" type="presParOf" srcId="{CDC89EB6-16D3-4238-82C4-E265EABEC873}" destId="{1C1B964D-E466-4F83-8C48-092FE38FA5B7}" srcOrd="4" destOrd="0" presId="urn:microsoft.com/office/officeart/2011/layout/CircleProcess"/>
    <dgm:cxn modelId="{3EE475C3-4F1D-4A1E-94CF-27923188F5B8}" type="presParOf" srcId="{1C1B964D-E466-4F83-8C48-092FE38FA5B7}" destId="{D216D1CE-9D14-4173-8391-E756EB030053}" srcOrd="0" destOrd="0" presId="urn:microsoft.com/office/officeart/2011/layout/CircleProcess"/>
    <dgm:cxn modelId="{0BDABE65-581D-4689-9292-5F1FCDA8E52C}" type="presParOf" srcId="{CDC89EB6-16D3-4238-82C4-E265EABEC873}" destId="{94A85F5A-581C-4A46-8E66-6CC9A9F4522B}" srcOrd="5" destOrd="0" presId="urn:microsoft.com/office/officeart/2011/layout/CircleProcess"/>
    <dgm:cxn modelId="{95F50506-348C-44D5-8C25-EC711DBA3D26}" type="presParOf" srcId="{CDC89EB6-16D3-4238-82C4-E265EABEC873}" destId="{1347B396-608A-4D0F-99C8-1734F6FF7FF1}" srcOrd="6" destOrd="0" presId="urn:microsoft.com/office/officeart/2011/layout/CircleProcess"/>
    <dgm:cxn modelId="{220713CA-A50A-48B1-83F5-172E66B63ACB}" type="presParOf" srcId="{1347B396-608A-4D0F-99C8-1734F6FF7FF1}" destId="{BFC2DB1A-470C-429F-BF41-2E8D4A2B2865}" srcOrd="0" destOrd="0" presId="urn:microsoft.com/office/officeart/2011/layout/CircleProcess"/>
    <dgm:cxn modelId="{73894E21-4472-4BDF-A603-9913F61EA64A}" type="presParOf" srcId="{CDC89EB6-16D3-4238-82C4-E265EABEC873}" destId="{2D2381FF-984D-4462-9E81-E46A948A12E5}" srcOrd="7" destOrd="0" presId="urn:microsoft.com/office/officeart/2011/layout/CircleProcess"/>
    <dgm:cxn modelId="{ADCF7D33-5E15-4F33-BE6F-BA27798D3845}" type="presParOf" srcId="{2D2381FF-984D-4462-9E81-E46A948A12E5}" destId="{6338E588-5A5E-4B00-9272-A888E3C19C3A}" srcOrd="0" destOrd="0" presId="urn:microsoft.com/office/officeart/2011/layout/CircleProcess"/>
    <dgm:cxn modelId="{3DF592B2-0DDE-46D1-B346-BA7177159449}" type="presParOf" srcId="{CDC89EB6-16D3-4238-82C4-E265EABEC873}" destId="{9AEF4E7A-4984-4500-B78B-377DAE3911F1}" srcOrd="8" destOrd="0" presId="urn:microsoft.com/office/officeart/2011/layout/CircleProcess"/>
    <dgm:cxn modelId="{0927509E-72F3-4372-8630-B053F73A1E0C}" type="presParOf" srcId="{CDC89EB6-16D3-4238-82C4-E265EABEC873}" destId="{4D98D270-0EFB-45A8-9317-256C18EDDB0B}" srcOrd="9" destOrd="0" presId="urn:microsoft.com/office/officeart/2011/layout/CircleProcess"/>
    <dgm:cxn modelId="{7FF8BFA0-E51F-44EE-AC6A-C980E317B9E0}" type="presParOf" srcId="{4D98D270-0EFB-45A8-9317-256C18EDDB0B}" destId="{0A8BAD15-50F7-4B02-A8F6-B7B017329C8B}" srcOrd="0" destOrd="0" presId="urn:microsoft.com/office/officeart/2011/layout/CircleProcess"/>
    <dgm:cxn modelId="{80C22F8C-2FE5-4AF6-95F5-ECB13CC7B6F1}" type="presParOf" srcId="{CDC89EB6-16D3-4238-82C4-E265EABEC873}" destId="{95A2966A-350B-44E4-8380-B7B4844421DC}" srcOrd="10" destOrd="0" presId="urn:microsoft.com/office/officeart/2011/layout/CircleProcess"/>
    <dgm:cxn modelId="{45073411-BCB6-4406-B0C4-E3FB1C26D177}" type="presParOf" srcId="{95A2966A-350B-44E4-8380-B7B4844421DC}" destId="{028AF986-7AA0-433F-9AB9-327EF875F283}" srcOrd="0" destOrd="0" presId="urn:microsoft.com/office/officeart/2011/layout/CircleProcess"/>
    <dgm:cxn modelId="{7C7C2DC3-006E-462B-9FE5-FAA6E10C9376}" type="presParOf" srcId="{CDC89EB6-16D3-4238-82C4-E265EABEC873}" destId="{A0E97C63-9A67-4AC5-B0D7-757E532D0C2D}" srcOrd="11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A1DB878-78D3-4836-AABE-E6BF1FB7022D}" type="doc">
      <dgm:prSet loTypeId="urn:microsoft.com/office/officeart/2005/8/layout/venn2" loCatId="relationship" qsTypeId="urn:microsoft.com/office/officeart/2005/8/quickstyle/simple2" qsCatId="simple" csTypeId="urn:microsoft.com/office/officeart/2005/8/colors/accent6_3" csCatId="accent6" phldr="1"/>
      <dgm:spPr/>
      <dgm:t>
        <a:bodyPr/>
        <a:lstStyle/>
        <a:p>
          <a:endParaRPr lang="en-IN"/>
        </a:p>
      </dgm:t>
    </dgm:pt>
    <dgm:pt modelId="{ECC5C0F9-A11B-4019-AA7A-C81676D79B6E}">
      <dgm:prSet phldrT="[Text]"/>
      <dgm:spPr/>
      <dgm:t>
        <a:bodyPr/>
        <a:lstStyle/>
        <a:p>
          <a:r>
            <a:rPr lang="en-IN" dirty="0"/>
            <a:t>3NF</a:t>
          </a:r>
        </a:p>
      </dgm:t>
    </dgm:pt>
    <dgm:pt modelId="{52DC41F8-8CAE-4E76-9CC5-40DA46CB4819}" type="parTrans" cxnId="{B27BF01E-4D6C-488A-A885-31C15A71D8D5}">
      <dgm:prSet/>
      <dgm:spPr/>
      <dgm:t>
        <a:bodyPr/>
        <a:lstStyle/>
        <a:p>
          <a:endParaRPr lang="en-IN"/>
        </a:p>
      </dgm:t>
    </dgm:pt>
    <dgm:pt modelId="{4D319268-DBDF-446F-B9E0-40D829F95CB9}" type="sibTrans" cxnId="{B27BF01E-4D6C-488A-A885-31C15A71D8D5}">
      <dgm:prSet/>
      <dgm:spPr/>
      <dgm:t>
        <a:bodyPr/>
        <a:lstStyle/>
        <a:p>
          <a:endParaRPr lang="en-IN"/>
        </a:p>
      </dgm:t>
    </dgm:pt>
    <dgm:pt modelId="{446F345B-9C8A-45EE-A503-41F04252A900}">
      <dgm:prSet phldrT="[Text]"/>
      <dgm:spPr/>
      <dgm:t>
        <a:bodyPr/>
        <a:lstStyle/>
        <a:p>
          <a:r>
            <a:rPr lang="en-IN" dirty="0"/>
            <a:t>2NF</a:t>
          </a:r>
        </a:p>
      </dgm:t>
    </dgm:pt>
    <dgm:pt modelId="{0444DF41-D4A6-4F4A-AB63-3564A357668E}" type="parTrans" cxnId="{98CA5C39-543E-443F-AD43-9CCB5BF6E031}">
      <dgm:prSet/>
      <dgm:spPr/>
      <dgm:t>
        <a:bodyPr/>
        <a:lstStyle/>
        <a:p>
          <a:endParaRPr lang="en-IN"/>
        </a:p>
      </dgm:t>
    </dgm:pt>
    <dgm:pt modelId="{5734993B-AC98-4146-A0DC-93C12041D281}" type="sibTrans" cxnId="{98CA5C39-543E-443F-AD43-9CCB5BF6E031}">
      <dgm:prSet/>
      <dgm:spPr/>
      <dgm:t>
        <a:bodyPr/>
        <a:lstStyle/>
        <a:p>
          <a:endParaRPr lang="en-IN"/>
        </a:p>
      </dgm:t>
    </dgm:pt>
    <dgm:pt modelId="{4D47D66C-695A-4479-B810-55EA34BC51EA}">
      <dgm:prSet phldrT="[Text]"/>
      <dgm:spPr/>
      <dgm:t>
        <a:bodyPr/>
        <a:lstStyle/>
        <a:p>
          <a:r>
            <a:rPr lang="en-IN" dirty="0"/>
            <a:t>1NF</a:t>
          </a:r>
        </a:p>
      </dgm:t>
    </dgm:pt>
    <dgm:pt modelId="{E5058B18-96B9-4C8D-85B9-DACA2F1DC35A}" type="parTrans" cxnId="{9D0A6954-9999-4A02-9CCB-715E0464DE8B}">
      <dgm:prSet/>
      <dgm:spPr/>
      <dgm:t>
        <a:bodyPr/>
        <a:lstStyle/>
        <a:p>
          <a:endParaRPr lang="en-IN"/>
        </a:p>
      </dgm:t>
    </dgm:pt>
    <dgm:pt modelId="{6778146A-0E58-4A1B-84B0-197A6DFE7970}" type="sibTrans" cxnId="{9D0A6954-9999-4A02-9CCB-715E0464DE8B}">
      <dgm:prSet/>
      <dgm:spPr/>
      <dgm:t>
        <a:bodyPr/>
        <a:lstStyle/>
        <a:p>
          <a:endParaRPr lang="en-IN"/>
        </a:p>
      </dgm:t>
    </dgm:pt>
    <dgm:pt modelId="{DFFEE340-561D-44A7-AE48-37AEAA3D59B2}" type="pres">
      <dgm:prSet presAssocID="{9A1DB878-78D3-4836-AABE-E6BF1FB7022D}" presName="Name0" presStyleCnt="0">
        <dgm:presLayoutVars>
          <dgm:chMax val="7"/>
          <dgm:resizeHandles val="exact"/>
        </dgm:presLayoutVars>
      </dgm:prSet>
      <dgm:spPr/>
    </dgm:pt>
    <dgm:pt modelId="{B8418230-3C3F-46F4-A04E-F088271DBFAD}" type="pres">
      <dgm:prSet presAssocID="{9A1DB878-78D3-4836-AABE-E6BF1FB7022D}" presName="comp1" presStyleCnt="0"/>
      <dgm:spPr/>
    </dgm:pt>
    <dgm:pt modelId="{2192F37E-F8A3-4C68-BD75-2381B6BB019C}" type="pres">
      <dgm:prSet presAssocID="{9A1DB878-78D3-4836-AABE-E6BF1FB7022D}" presName="circle1" presStyleLbl="node1" presStyleIdx="0" presStyleCnt="3"/>
      <dgm:spPr/>
    </dgm:pt>
    <dgm:pt modelId="{9C61F51C-1F38-45B6-ABE5-DFE67424CB6F}" type="pres">
      <dgm:prSet presAssocID="{9A1DB878-78D3-4836-AABE-E6BF1FB7022D}" presName="c1text" presStyleLbl="node1" presStyleIdx="0" presStyleCnt="3">
        <dgm:presLayoutVars>
          <dgm:bulletEnabled val="1"/>
        </dgm:presLayoutVars>
      </dgm:prSet>
      <dgm:spPr/>
    </dgm:pt>
    <dgm:pt modelId="{115B5513-94C3-4EF9-BD77-97524DAC1C53}" type="pres">
      <dgm:prSet presAssocID="{9A1DB878-78D3-4836-AABE-E6BF1FB7022D}" presName="comp2" presStyleCnt="0"/>
      <dgm:spPr/>
    </dgm:pt>
    <dgm:pt modelId="{31D558AD-FE2E-4639-9301-40F8CE482893}" type="pres">
      <dgm:prSet presAssocID="{9A1DB878-78D3-4836-AABE-E6BF1FB7022D}" presName="circle2" presStyleLbl="node1" presStyleIdx="1" presStyleCnt="3"/>
      <dgm:spPr/>
    </dgm:pt>
    <dgm:pt modelId="{6B138427-A90B-48DA-91B8-79D381CC1E05}" type="pres">
      <dgm:prSet presAssocID="{9A1DB878-78D3-4836-AABE-E6BF1FB7022D}" presName="c2text" presStyleLbl="node1" presStyleIdx="1" presStyleCnt="3">
        <dgm:presLayoutVars>
          <dgm:bulletEnabled val="1"/>
        </dgm:presLayoutVars>
      </dgm:prSet>
      <dgm:spPr/>
    </dgm:pt>
    <dgm:pt modelId="{21E7C6AD-1C87-459A-8760-ADD8F3C50E81}" type="pres">
      <dgm:prSet presAssocID="{9A1DB878-78D3-4836-AABE-E6BF1FB7022D}" presName="comp3" presStyleCnt="0"/>
      <dgm:spPr/>
    </dgm:pt>
    <dgm:pt modelId="{621190DD-D9BB-4D0D-AC8B-A66B906E69F2}" type="pres">
      <dgm:prSet presAssocID="{9A1DB878-78D3-4836-AABE-E6BF1FB7022D}" presName="circle3" presStyleLbl="node1" presStyleIdx="2" presStyleCnt="3"/>
      <dgm:spPr/>
    </dgm:pt>
    <dgm:pt modelId="{A65277DE-6963-48C0-9411-B94BE88F871B}" type="pres">
      <dgm:prSet presAssocID="{9A1DB878-78D3-4836-AABE-E6BF1FB7022D}" presName="c3text" presStyleLbl="node1" presStyleIdx="2" presStyleCnt="3">
        <dgm:presLayoutVars>
          <dgm:bulletEnabled val="1"/>
        </dgm:presLayoutVars>
      </dgm:prSet>
      <dgm:spPr/>
    </dgm:pt>
  </dgm:ptLst>
  <dgm:cxnLst>
    <dgm:cxn modelId="{90DA3B02-B742-44C3-9E1F-FDC460C871CD}" type="presOf" srcId="{ECC5C0F9-A11B-4019-AA7A-C81676D79B6E}" destId="{9C61F51C-1F38-45B6-ABE5-DFE67424CB6F}" srcOrd="1" destOrd="0" presId="urn:microsoft.com/office/officeart/2005/8/layout/venn2"/>
    <dgm:cxn modelId="{B27BF01E-4D6C-488A-A885-31C15A71D8D5}" srcId="{9A1DB878-78D3-4836-AABE-E6BF1FB7022D}" destId="{ECC5C0F9-A11B-4019-AA7A-C81676D79B6E}" srcOrd="0" destOrd="0" parTransId="{52DC41F8-8CAE-4E76-9CC5-40DA46CB4819}" sibTransId="{4D319268-DBDF-446F-B9E0-40D829F95CB9}"/>
    <dgm:cxn modelId="{98CA5C39-543E-443F-AD43-9CCB5BF6E031}" srcId="{9A1DB878-78D3-4836-AABE-E6BF1FB7022D}" destId="{446F345B-9C8A-45EE-A503-41F04252A900}" srcOrd="1" destOrd="0" parTransId="{0444DF41-D4A6-4F4A-AB63-3564A357668E}" sibTransId="{5734993B-AC98-4146-A0DC-93C12041D281}"/>
    <dgm:cxn modelId="{1BD37A6F-58B9-4976-BCB0-9F6948D07DEC}" type="presOf" srcId="{446F345B-9C8A-45EE-A503-41F04252A900}" destId="{6B138427-A90B-48DA-91B8-79D381CC1E05}" srcOrd="1" destOrd="0" presId="urn:microsoft.com/office/officeart/2005/8/layout/venn2"/>
    <dgm:cxn modelId="{9D0A6954-9999-4A02-9CCB-715E0464DE8B}" srcId="{9A1DB878-78D3-4836-AABE-E6BF1FB7022D}" destId="{4D47D66C-695A-4479-B810-55EA34BC51EA}" srcOrd="2" destOrd="0" parTransId="{E5058B18-96B9-4C8D-85B9-DACA2F1DC35A}" sibTransId="{6778146A-0E58-4A1B-84B0-197A6DFE7970}"/>
    <dgm:cxn modelId="{D2E7049D-69EF-473A-B469-FA9C00EED54E}" type="presOf" srcId="{9A1DB878-78D3-4836-AABE-E6BF1FB7022D}" destId="{DFFEE340-561D-44A7-AE48-37AEAA3D59B2}" srcOrd="0" destOrd="0" presId="urn:microsoft.com/office/officeart/2005/8/layout/venn2"/>
    <dgm:cxn modelId="{9837BDB4-CB4F-42AB-B632-8C6D4A1E0524}" type="presOf" srcId="{4D47D66C-695A-4479-B810-55EA34BC51EA}" destId="{A65277DE-6963-48C0-9411-B94BE88F871B}" srcOrd="1" destOrd="0" presId="urn:microsoft.com/office/officeart/2005/8/layout/venn2"/>
    <dgm:cxn modelId="{7AAD9FBE-1B05-4803-8E12-DE803A7FD1BA}" type="presOf" srcId="{446F345B-9C8A-45EE-A503-41F04252A900}" destId="{31D558AD-FE2E-4639-9301-40F8CE482893}" srcOrd="0" destOrd="0" presId="urn:microsoft.com/office/officeart/2005/8/layout/venn2"/>
    <dgm:cxn modelId="{ECBD86CA-2041-4A96-A44A-D9ABB4E3D706}" type="presOf" srcId="{ECC5C0F9-A11B-4019-AA7A-C81676D79B6E}" destId="{2192F37E-F8A3-4C68-BD75-2381B6BB019C}" srcOrd="0" destOrd="0" presId="urn:microsoft.com/office/officeart/2005/8/layout/venn2"/>
    <dgm:cxn modelId="{B167C4D4-3AE1-4A87-ABF0-AE3E34F34B1F}" type="presOf" srcId="{4D47D66C-695A-4479-B810-55EA34BC51EA}" destId="{621190DD-D9BB-4D0D-AC8B-A66B906E69F2}" srcOrd="0" destOrd="0" presId="urn:microsoft.com/office/officeart/2005/8/layout/venn2"/>
    <dgm:cxn modelId="{DECFD5F8-D55B-472B-B6EF-0E4EFE7842B6}" type="presParOf" srcId="{DFFEE340-561D-44A7-AE48-37AEAA3D59B2}" destId="{B8418230-3C3F-46F4-A04E-F088271DBFAD}" srcOrd="0" destOrd="0" presId="urn:microsoft.com/office/officeart/2005/8/layout/venn2"/>
    <dgm:cxn modelId="{BD79456C-4BE9-4C7D-A581-05A9380DE0D3}" type="presParOf" srcId="{B8418230-3C3F-46F4-A04E-F088271DBFAD}" destId="{2192F37E-F8A3-4C68-BD75-2381B6BB019C}" srcOrd="0" destOrd="0" presId="urn:microsoft.com/office/officeart/2005/8/layout/venn2"/>
    <dgm:cxn modelId="{15D41B3E-EDA8-4371-92C3-D14A2DFDA49D}" type="presParOf" srcId="{B8418230-3C3F-46F4-A04E-F088271DBFAD}" destId="{9C61F51C-1F38-45B6-ABE5-DFE67424CB6F}" srcOrd="1" destOrd="0" presId="urn:microsoft.com/office/officeart/2005/8/layout/venn2"/>
    <dgm:cxn modelId="{6E7561A7-3B2F-4467-9F04-2F88A9858720}" type="presParOf" srcId="{DFFEE340-561D-44A7-AE48-37AEAA3D59B2}" destId="{115B5513-94C3-4EF9-BD77-97524DAC1C53}" srcOrd="1" destOrd="0" presId="urn:microsoft.com/office/officeart/2005/8/layout/venn2"/>
    <dgm:cxn modelId="{49A6ABEA-351D-4D8A-9C92-04B6F6CC6C31}" type="presParOf" srcId="{115B5513-94C3-4EF9-BD77-97524DAC1C53}" destId="{31D558AD-FE2E-4639-9301-40F8CE482893}" srcOrd="0" destOrd="0" presId="urn:microsoft.com/office/officeart/2005/8/layout/venn2"/>
    <dgm:cxn modelId="{AB7B2CCC-A4DA-459E-9B53-83A5165FB0BE}" type="presParOf" srcId="{115B5513-94C3-4EF9-BD77-97524DAC1C53}" destId="{6B138427-A90B-48DA-91B8-79D381CC1E05}" srcOrd="1" destOrd="0" presId="urn:microsoft.com/office/officeart/2005/8/layout/venn2"/>
    <dgm:cxn modelId="{47606074-4123-4ABA-930F-79F03F38EE28}" type="presParOf" srcId="{DFFEE340-561D-44A7-AE48-37AEAA3D59B2}" destId="{21E7C6AD-1C87-459A-8760-ADD8F3C50E81}" srcOrd="2" destOrd="0" presId="urn:microsoft.com/office/officeart/2005/8/layout/venn2"/>
    <dgm:cxn modelId="{5095A805-547A-41D9-913C-F1ADB2F1BE9E}" type="presParOf" srcId="{21E7C6AD-1C87-459A-8760-ADD8F3C50E81}" destId="{621190DD-D9BB-4D0D-AC8B-A66B906E69F2}" srcOrd="0" destOrd="0" presId="urn:microsoft.com/office/officeart/2005/8/layout/venn2"/>
    <dgm:cxn modelId="{C63649D2-72F2-491A-845D-B1B8D19BD407}" type="presParOf" srcId="{21E7C6AD-1C87-459A-8760-ADD8F3C50E81}" destId="{A65277DE-6963-48C0-9411-B94BE88F871B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22EBE9-96D0-4993-A10B-42784C5DC762}">
      <dsp:nvSpPr>
        <dsp:cNvPr id="0" name=""/>
        <dsp:cNvSpPr/>
      </dsp:nvSpPr>
      <dsp:spPr>
        <a:xfrm>
          <a:off x="4825760" y="544116"/>
          <a:ext cx="1441542" cy="1441616"/>
        </a:xfrm>
        <a:prstGeom prst="ellipse">
          <a:avLst/>
        </a:prstGeom>
        <a:blipFill rotWithShape="1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6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B6E302B-FDAF-4BA9-8CDF-FAD0FD342005}">
      <dsp:nvSpPr>
        <dsp:cNvPr id="0" name=""/>
        <dsp:cNvSpPr/>
      </dsp:nvSpPr>
      <dsp:spPr>
        <a:xfrm>
          <a:off x="4873977" y="592178"/>
          <a:ext cx="1345728" cy="13454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Flask route writes to MySQL</a:t>
          </a:r>
        </a:p>
      </dsp:txBody>
      <dsp:txXfrm>
        <a:off x="5066224" y="784427"/>
        <a:ext cx="961234" cy="960993"/>
      </dsp:txXfrm>
    </dsp:sp>
    <dsp:sp modelId="{EFF7F71C-CD0C-4732-B99F-4C302A057F27}">
      <dsp:nvSpPr>
        <dsp:cNvPr id="0" name=""/>
        <dsp:cNvSpPr/>
      </dsp:nvSpPr>
      <dsp:spPr>
        <a:xfrm rot="2700000">
          <a:off x="3329808" y="544014"/>
          <a:ext cx="1441566" cy="1441566"/>
        </a:xfrm>
        <a:prstGeom prst="teardrop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6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216D1CE-9D14-4173-8391-E756EB030053}">
      <dsp:nvSpPr>
        <dsp:cNvPr id="0" name=""/>
        <dsp:cNvSpPr/>
      </dsp:nvSpPr>
      <dsp:spPr>
        <a:xfrm>
          <a:off x="3384217" y="592178"/>
          <a:ext cx="1345728" cy="13454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Browser displays inputs</a:t>
          </a:r>
        </a:p>
      </dsp:txBody>
      <dsp:txXfrm>
        <a:off x="3576464" y="784427"/>
        <a:ext cx="961234" cy="960993"/>
      </dsp:txXfrm>
    </dsp:sp>
    <dsp:sp modelId="{BFC2DB1A-470C-429F-BF41-2E8D4A2B2865}">
      <dsp:nvSpPr>
        <dsp:cNvPr id="0" name=""/>
        <dsp:cNvSpPr/>
      </dsp:nvSpPr>
      <dsp:spPr>
        <a:xfrm rot="2700000">
          <a:off x="1846230" y="544014"/>
          <a:ext cx="1441566" cy="1441566"/>
        </a:xfrm>
        <a:prstGeom prst="teardrop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6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338E588-5A5E-4B00-9272-A888E3C19C3A}">
      <dsp:nvSpPr>
        <dsp:cNvPr id="0" name=""/>
        <dsp:cNvSpPr/>
      </dsp:nvSpPr>
      <dsp:spPr>
        <a:xfrm>
          <a:off x="1894458" y="592178"/>
          <a:ext cx="1345728" cy="13454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Flask route queries to MySQL</a:t>
          </a:r>
        </a:p>
      </dsp:txBody>
      <dsp:txXfrm>
        <a:off x="2086705" y="784427"/>
        <a:ext cx="961234" cy="960993"/>
      </dsp:txXfrm>
    </dsp:sp>
    <dsp:sp modelId="{0A8BAD15-50F7-4B02-A8F6-B7B017329C8B}">
      <dsp:nvSpPr>
        <dsp:cNvPr id="0" name=""/>
        <dsp:cNvSpPr/>
      </dsp:nvSpPr>
      <dsp:spPr>
        <a:xfrm rot="2700000">
          <a:off x="356471" y="544014"/>
          <a:ext cx="1441566" cy="1441566"/>
        </a:xfrm>
        <a:prstGeom prst="teardrop">
          <a:avLst>
            <a:gd name="adj" fmla="val 100000"/>
          </a:avLst>
        </a:prstGeom>
        <a:blipFill rotWithShape="1">
          <a:blip xmlns:r="http://schemas.openxmlformats.org/officeDocument/2006/relationships" r:embed="rId1">
            <a:duotone>
              <a:schemeClr val="accent6">
                <a:hueOff val="0"/>
                <a:satOff val="0"/>
                <a:lumOff val="0"/>
                <a:alphaOff val="0"/>
                <a:shade val="30000"/>
                <a:satMod val="115000"/>
              </a:schemeClr>
              <a:schemeClr val="accent6">
                <a:hueOff val="0"/>
                <a:satOff val="0"/>
                <a:lumOff val="0"/>
                <a:alphaOff val="0"/>
                <a:tint val="34000"/>
              </a:schemeClr>
            </a:duotone>
          </a:blip>
          <a:tile tx="0" ty="0" sx="60000" sy="59000" flip="none" algn="b"/>
        </a:blipFill>
        <a:ln>
          <a:noFill/>
        </a:ln>
        <a:effectLst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8AF986-7AA0-433F-9AB9-327EF875F283}">
      <dsp:nvSpPr>
        <dsp:cNvPr id="0" name=""/>
        <dsp:cNvSpPr/>
      </dsp:nvSpPr>
      <dsp:spPr>
        <a:xfrm>
          <a:off x="404699" y="592178"/>
          <a:ext cx="1345728" cy="1345492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>
              <a:latin typeface="+mn-lt"/>
            </a:rPr>
            <a:t>User fills data</a:t>
          </a:r>
        </a:p>
      </dsp:txBody>
      <dsp:txXfrm>
        <a:off x="596946" y="784427"/>
        <a:ext cx="961234" cy="9609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92F37E-F8A3-4C68-BD75-2381B6BB019C}">
      <dsp:nvSpPr>
        <dsp:cNvPr id="0" name=""/>
        <dsp:cNvSpPr/>
      </dsp:nvSpPr>
      <dsp:spPr>
        <a:xfrm>
          <a:off x="445593" y="0"/>
          <a:ext cx="2412685" cy="2412685"/>
        </a:xfrm>
        <a:prstGeom prst="ellipse">
          <a:avLst/>
        </a:prstGeom>
        <a:solidFill>
          <a:schemeClr val="accent6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3NF</a:t>
          </a:r>
        </a:p>
      </dsp:txBody>
      <dsp:txXfrm>
        <a:off x="1230319" y="120634"/>
        <a:ext cx="843233" cy="361902"/>
      </dsp:txXfrm>
    </dsp:sp>
    <dsp:sp modelId="{31D558AD-FE2E-4639-9301-40F8CE482893}">
      <dsp:nvSpPr>
        <dsp:cNvPr id="0" name=""/>
        <dsp:cNvSpPr/>
      </dsp:nvSpPr>
      <dsp:spPr>
        <a:xfrm>
          <a:off x="747179" y="603171"/>
          <a:ext cx="1809513" cy="1809513"/>
        </a:xfrm>
        <a:prstGeom prst="ellipse">
          <a:avLst/>
        </a:prstGeom>
        <a:solidFill>
          <a:schemeClr val="accent6">
            <a:shade val="80000"/>
            <a:hueOff val="160640"/>
            <a:satOff val="-6455"/>
            <a:lumOff val="1381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2NF</a:t>
          </a:r>
        </a:p>
      </dsp:txBody>
      <dsp:txXfrm>
        <a:off x="1230319" y="716265"/>
        <a:ext cx="843233" cy="339283"/>
      </dsp:txXfrm>
    </dsp:sp>
    <dsp:sp modelId="{621190DD-D9BB-4D0D-AC8B-A66B906E69F2}">
      <dsp:nvSpPr>
        <dsp:cNvPr id="0" name=""/>
        <dsp:cNvSpPr/>
      </dsp:nvSpPr>
      <dsp:spPr>
        <a:xfrm>
          <a:off x="1048765" y="1206342"/>
          <a:ext cx="1206342" cy="1206342"/>
        </a:xfrm>
        <a:prstGeom prst="ellipse">
          <a:avLst/>
        </a:prstGeom>
        <a:solidFill>
          <a:schemeClr val="accent6">
            <a:shade val="80000"/>
            <a:hueOff val="321280"/>
            <a:satOff val="-12909"/>
            <a:lumOff val="27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5344" tIns="85344" rIns="85344" bIns="85344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1NF</a:t>
          </a:r>
        </a:p>
      </dsp:txBody>
      <dsp:txXfrm>
        <a:off x="1225430" y="1507928"/>
        <a:ext cx="853012" cy="6031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55625B-4825-46F5-9BA7-3D96A8FF471E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18B32-D4A9-4E17-AE70-A2105A1DF4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272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18B32-D4A9-4E17-AE70-A2105A1DF4D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2705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394209-11CE-4005-9080-B1EC0FB20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F3441-08D7-C0B9-E2CE-8DC19A56B6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03E351-FC14-4464-806C-07FDB3444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BECEE1-8594-88B2-1026-F8E08C428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18B32-D4A9-4E17-AE70-A2105A1DF4D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5769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04724-7878-11EB-FDC2-AAD0EBA8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2C788-8FEE-B133-9B84-EDCFC80346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BF4303-E267-F554-199D-2A4FF41828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9145E8-C8A9-DB4C-809B-F68E90E8D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18B32-D4A9-4E17-AE70-A2105A1DF4D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68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3002C-7E26-BE1D-E4FD-AB6D28D58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C6038-7293-4C69-10B1-1071241D88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216B8-4197-F4C4-CCC3-4138A6F1A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54E88-1D7C-4AEE-8886-86E57A3CA3AE}" type="datetime1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544413-EECD-5D34-7D1B-A6CD5D7D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DA130-FAFC-B755-4F43-A113C8DD8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94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CE96E-F03F-E56D-403D-4B4D2B8EB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D62FD-0087-B236-AF4D-BDEC56DF3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A7B7E-48D3-48F9-280F-288C56B3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97EAC-1B90-4D9B-8321-6449676C25E7}" type="datetime1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8EF6C-71C6-FAC5-B599-260797019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2433-D9A5-4603-1790-8B65F9939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364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D0D8-9CF1-6D9A-297E-BD65B338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563C01-1CDA-C673-4D49-F9703E20E8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ED17B-D3B6-216E-057A-C9FE40762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BDAE28-CDA2-4401-900A-5F3CC9593304}" type="datetime1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131F2-315D-1813-52FC-5927FD7F7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FAA77-7CAD-D1FB-BBAF-E15EE4D0F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7681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77468-FFFE-1983-DAB2-2431017CE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50D80-5CC5-A5D0-86B5-A70BFD4BB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E640A9-67FF-5CFE-0D52-A5F73C67F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13EB1A-8FE1-A645-550A-DB3DC8A1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AF80C-D102-4EFF-8F06-4A4B478B071C}" type="datetime1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8DF64-D798-A273-7E71-6075DCD9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96161C-D650-5C9A-396B-3D2FC8C0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207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92B4-1BFA-13C8-D3A8-2105F34C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EA199-3676-CD8D-A08A-0C445BD31A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5AF26-3B2F-7678-A51B-74CB5AC7A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EA9D5E-DD60-1848-0FBE-71A09710E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91FB98-B902-9476-3982-B46906F406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706E71-20AE-BCAE-1AC8-DF5C1D01D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EF71F-09B0-4CC2-B077-7381483A5B96}" type="datetime1">
              <a:rPr lang="en-IN" smtClean="0"/>
              <a:t>23-05-2025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E92DB7-6047-C099-85DF-2B1BF2E92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526463-44AF-A431-F761-5E772E597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333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B1BB5-E6CC-190F-0824-AF52221F5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1DB22-AF91-3FB2-8997-6EABE39DC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DE2AF-6E75-4C74-8291-4F7F81994E58}" type="datetime1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86AAE-2E67-8294-A85E-1862AC8E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057449-7000-A619-D199-B9B07F3F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31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D758F3-265E-B16D-5695-B5142532B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FF3E3B-6DED-404C-9D74-7F5007246B1D}" type="datetime1">
              <a:rPr lang="en-IN" smtClean="0"/>
              <a:t>23-05-2025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3ACCCD-A9D2-6A16-403A-18F65DCD0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1E196-FAF0-ECC7-F7EB-46A9C468A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840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AA460-9E08-9E53-D63A-8F5DFAE2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78E53-1072-B20A-7F10-2526EC17B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3A3DE-B5A3-F495-41AC-A0F4F96427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CF609-1374-ECC5-F166-59711052D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195BF-8BF5-4A44-9C9B-01103478C7FF}" type="datetime1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DE620-B118-DE90-B7E8-A4E6BCFAA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16313-5AAA-1019-B3FA-0CCBE987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402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8DB59-E800-30A0-30A3-EB7E25C4B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CFF853-4EE6-6315-2654-59A6E4B1CB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90E61-957E-2332-95E4-8BAE326D1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AE1FC4-92AB-6E71-B336-5C58E47D0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1ABA2-322B-4AC9-9948-296C752FCE46}" type="datetime1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56401-A236-C4CF-4ADF-1FC060B13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95B2A4-CC0D-A82F-F26D-592CC9AAF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807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6F2F34-8F5C-05ED-5845-620AC0432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6E1116-F6E2-D177-3691-44FCB4343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8107D-8E06-998E-0D14-5EF06C7EA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B862A-FE58-4373-919E-4B4AB2922907}" type="datetime1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B01F95-0FCC-2910-DDCA-0DE7BC17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0F6D91-F996-E7A1-8D75-D8C3879E2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130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F89801-8D6D-F428-494E-E2F6A3BFC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7BB713-D8F6-3C51-2CFE-03A0CF54A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9C8B65-40CF-FE84-CD0B-C252255ED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9A5FA-BBB5-4D3A-827A-2C525846202E}" type="datetime1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07070-2EA7-CFDA-B442-E9AE9A5D2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CCE4F-B42E-DD00-1C5F-82F125476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966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3CF31F-FC4E-EA11-606E-D2F0F87D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F6DFC-0747-697C-D2B9-B1C226A68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05339-73B8-DAAC-051B-A5FCBAFDF3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7D3906-421B-4D7A-A824-9701310117A0}" type="datetime1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FE3C9-56FD-730A-B88D-4D9654BB8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B839-AD55-D0CA-3B98-2F2BAB9F2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1EC7F1-E0A0-4746-8AEE-00D8D8D104A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679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D159E-F4C3-012A-CD1F-EDEC7252D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386426"/>
            <a:ext cx="10868152" cy="1181755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IN" b="1" dirty="0">
                <a:solidFill>
                  <a:schemeClr val="bg1"/>
                </a:solidFill>
                <a:latin typeface="+mn-lt"/>
              </a:rPr>
              <a:t>DBMS Project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CD115-7725-BB03-3C4D-AD58553F2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20943" y="2221220"/>
            <a:ext cx="5788573" cy="204412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sz="1900" b="1" dirty="0">
                <a:solidFill>
                  <a:srgbClr val="223127"/>
                </a:solidFill>
              </a:rPr>
              <a:t>Team Name  </a:t>
            </a:r>
            <a:r>
              <a:rPr lang="en-IN" sz="1900" b="1" dirty="0">
                <a:solidFill>
                  <a:srgbClr val="288054"/>
                </a:solidFill>
              </a:rPr>
              <a:t>	:  Team Trio</a:t>
            </a:r>
          </a:p>
          <a:p>
            <a:pPr algn="l"/>
            <a:r>
              <a:rPr lang="en-IN" sz="1900" b="1" dirty="0">
                <a:solidFill>
                  <a:srgbClr val="223127"/>
                </a:solidFill>
              </a:rPr>
              <a:t>Team Code</a:t>
            </a:r>
            <a:r>
              <a:rPr lang="en-IN" sz="1900" b="1" dirty="0">
                <a:solidFill>
                  <a:srgbClr val="288054"/>
                </a:solidFill>
              </a:rPr>
              <a:t>	:  K</a:t>
            </a:r>
          </a:p>
          <a:p>
            <a:pPr algn="l"/>
            <a:r>
              <a:rPr lang="en-IN" sz="1900" b="1" dirty="0">
                <a:solidFill>
                  <a:srgbClr val="223127"/>
                </a:solidFill>
              </a:rPr>
              <a:t>Section      </a:t>
            </a:r>
            <a:r>
              <a:rPr lang="en-IN" sz="1900" b="1" dirty="0">
                <a:solidFill>
                  <a:srgbClr val="288054"/>
                </a:solidFill>
              </a:rPr>
              <a:t>    	:  CSE-DS-4A</a:t>
            </a:r>
          </a:p>
          <a:p>
            <a:pPr algn="l"/>
            <a:r>
              <a:rPr lang="en-IN" sz="1900" b="1" dirty="0">
                <a:solidFill>
                  <a:srgbClr val="223127"/>
                </a:solidFill>
              </a:rPr>
              <a:t>Course Code</a:t>
            </a:r>
            <a:r>
              <a:rPr lang="en-IN" sz="1900" b="1" dirty="0">
                <a:solidFill>
                  <a:srgbClr val="288054"/>
                </a:solidFill>
              </a:rPr>
              <a:t>	:  23DS2403</a:t>
            </a:r>
          </a:p>
          <a:p>
            <a:pPr algn="l"/>
            <a:r>
              <a:rPr lang="en-IN" sz="1900" b="1" dirty="0">
                <a:solidFill>
                  <a:srgbClr val="223127"/>
                </a:solidFill>
              </a:rPr>
              <a:t>Project Title</a:t>
            </a:r>
            <a:r>
              <a:rPr lang="en-IN" sz="1900" b="1" dirty="0">
                <a:solidFill>
                  <a:srgbClr val="288054"/>
                </a:solidFill>
              </a:rPr>
              <a:t>	: Budget Buddy-(Money Management)</a:t>
            </a:r>
          </a:p>
          <a:p>
            <a:pPr algn="l"/>
            <a:r>
              <a:rPr lang="en-IN" sz="1900" b="1" dirty="0">
                <a:solidFill>
                  <a:srgbClr val="223127"/>
                </a:solidFill>
              </a:rPr>
              <a:t>Team Members  	</a:t>
            </a:r>
            <a:r>
              <a:rPr lang="en-IN" sz="1900" b="1" dirty="0">
                <a:solidFill>
                  <a:srgbClr val="288054"/>
                </a:solidFill>
              </a:rPr>
              <a:t>:</a:t>
            </a:r>
          </a:p>
          <a:p>
            <a:pPr algn="l"/>
            <a:endParaRPr lang="en-IN" sz="1900" b="1" dirty="0">
              <a:solidFill>
                <a:srgbClr val="288054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D4D55F4-2372-45EF-D999-122CBE05BE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296176"/>
              </p:ext>
            </p:extLst>
          </p:nvPr>
        </p:nvGraphicFramePr>
        <p:xfrm>
          <a:off x="5620943" y="4461256"/>
          <a:ext cx="5625296" cy="1107440"/>
        </p:xfrm>
        <a:graphic>
          <a:graphicData uri="http://schemas.openxmlformats.org/drawingml/2006/table">
            <a:tbl>
              <a:tblPr firstRow="1" bandRow="1">
                <a:tableStyleId>{E8B1032C-EA38-4F05-BA0D-38AFFFC7BED3}</a:tableStyleId>
              </a:tblPr>
              <a:tblGrid>
                <a:gridCol w="3493624">
                  <a:extLst>
                    <a:ext uri="{9D8B030D-6E8A-4147-A177-3AD203B41FA5}">
                      <a16:colId xmlns:a16="http://schemas.microsoft.com/office/drawing/2014/main" val="2375919384"/>
                    </a:ext>
                  </a:extLst>
                </a:gridCol>
                <a:gridCol w="2131672">
                  <a:extLst>
                    <a:ext uri="{9D8B030D-6E8A-4147-A177-3AD203B41FA5}">
                      <a16:colId xmlns:a16="http://schemas.microsoft.com/office/drawing/2014/main" val="2532524795"/>
                    </a:ext>
                  </a:extLst>
                </a:gridCol>
              </a:tblGrid>
              <a:tr h="327435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rgbClr val="223127"/>
                          </a:solidFill>
                          <a:latin typeface="+mn-lt"/>
                        </a:rPr>
                        <a:t>Kammala Kalyan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rgbClr val="223127"/>
                          </a:solidFill>
                          <a:latin typeface="+mn-lt"/>
                        </a:rPr>
                        <a:t>ENG23DS0063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3167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rgbClr val="223127"/>
                          </a:solidFill>
                          <a:latin typeface="+mn-lt"/>
                        </a:rPr>
                        <a:t>Kovouru Venkata Naga Sai Pranav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rgbClr val="223127"/>
                          </a:solidFill>
                          <a:latin typeface="+mn-lt"/>
                        </a:rPr>
                        <a:t>ENG23DS0067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5076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rgbClr val="223127"/>
                          </a:solidFill>
                          <a:latin typeface="+mn-lt"/>
                        </a:rPr>
                        <a:t>Amarnath Gowda 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rgbClr val="223127"/>
                          </a:solidFill>
                          <a:latin typeface="+mn-lt"/>
                        </a:rPr>
                        <a:t>ENG23DS0052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987920"/>
                  </a:ext>
                </a:extLst>
              </a:tr>
            </a:tbl>
          </a:graphicData>
        </a:graphic>
      </p:graphicFrame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D577D3-4D1F-595D-4E30-06A6F273BB65}"/>
              </a:ext>
            </a:extLst>
          </p:cNvPr>
          <p:cNvCxnSpPr>
            <a:cxnSpLocks/>
          </p:cNvCxnSpPr>
          <p:nvPr/>
        </p:nvCxnSpPr>
        <p:spPr>
          <a:xfrm>
            <a:off x="704088" y="1809216"/>
            <a:ext cx="10868152" cy="0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F2C9995-62E6-CE19-B802-3A66B8D57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590" y="2050252"/>
            <a:ext cx="4152672" cy="4152672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523D3EB-7377-EEC2-28A9-259F8807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</a:t>
            </a:fld>
            <a:endParaRPr lang="en-IN"/>
          </a:p>
        </p:txBody>
      </p:sp>
      <p:sp>
        <p:nvSpPr>
          <p:cNvPr id="4" name="Flowchart: Process 3">
            <a:extLst>
              <a:ext uri="{FF2B5EF4-FFF2-40B4-BE49-F238E27FC236}">
                <a16:creationId xmlns:a16="http://schemas.microsoft.com/office/drawing/2014/main" id="{9D294556-68CE-D41C-55E2-87042351883B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004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DCCD1C-4E2A-ECB0-82EB-A86ADBC33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4EE0C-5EA9-AAB7-5390-8766A0FDCF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60" y="429769"/>
            <a:ext cx="11396332" cy="970610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0FC25D-D305-1CD5-507B-310E7DA87F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92" t="12940" r="39724" b="42662"/>
          <a:stretch/>
        </p:blipFill>
        <p:spPr>
          <a:xfrm>
            <a:off x="8104772" y="2000695"/>
            <a:ext cx="3541776" cy="375683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FE8B8D-36AC-D992-B445-51401058E3AD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Subtitle 11">
            <a:extLst>
              <a:ext uri="{FF2B5EF4-FFF2-40B4-BE49-F238E27FC236}">
                <a16:creationId xmlns:a16="http://schemas.microsoft.com/office/drawing/2014/main" id="{048B2FB4-AFEC-9ADA-79F6-94FC47C3D8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6344" y="2000694"/>
            <a:ext cx="7638428" cy="4186849"/>
          </a:xfrm>
        </p:spPr>
        <p:txBody>
          <a:bodyPr>
            <a:normAutofit fontScale="92500"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What is Budget Buddy?</a:t>
            </a:r>
            <a:br>
              <a:rPr lang="en-US" sz="2000" dirty="0"/>
            </a:br>
            <a:r>
              <a:rPr lang="en-US" sz="2000" dirty="0"/>
              <a:t>A </a:t>
            </a:r>
            <a:r>
              <a:rPr lang="en-US" sz="2000" b="1" dirty="0"/>
              <a:t>simple web app</a:t>
            </a:r>
            <a:r>
              <a:rPr lang="en-US" sz="2000" dirty="0"/>
              <a:t> that helps you </a:t>
            </a:r>
            <a:r>
              <a:rPr lang="en-US" sz="2000" b="1" dirty="0"/>
              <a:t>plan and track </a:t>
            </a:r>
            <a:r>
              <a:rPr lang="en-US" sz="2000" dirty="0"/>
              <a:t>your </a:t>
            </a:r>
            <a:r>
              <a:rPr lang="en-US" sz="2000" b="1" dirty="0"/>
              <a:t>personal budget</a:t>
            </a:r>
            <a:r>
              <a:rPr lang="en-US" sz="2000" dirty="0"/>
              <a:t>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Objective of the Project</a:t>
            </a:r>
            <a:br>
              <a:rPr lang="en-US" sz="2000" dirty="0"/>
            </a:br>
            <a:r>
              <a:rPr lang="en-US" sz="2000" dirty="0"/>
              <a:t>To give anyone—no matter their experience level—a clear way to set a budget, record expenses, and see if they stayed under budget each month.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000" b="1" dirty="0"/>
              <a:t>Scope of the Project</a:t>
            </a:r>
            <a:endParaRPr lang="en-US" sz="2000" dirty="0"/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Users can register and log in.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Create a new monthly budget with categories (e.g. groceries, bills).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Add expenses against those categories.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View progress bars and charts showing planned vs. actual spending.</a:t>
            </a:r>
          </a:p>
          <a:p>
            <a:pPr marL="800100" lvl="1" indent="-342900" algn="l">
              <a:buFont typeface="Wingdings" panose="05000000000000000000" pitchFamily="2" charset="2"/>
              <a:buChar char="§"/>
            </a:pPr>
            <a:r>
              <a:rPr lang="en-US" dirty="0"/>
              <a:t>Track a “streak” of months under budget for extra motivation.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78EA21-0E4E-E9A1-18FF-282F4058C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</a:t>
            </a:fld>
            <a:endParaRPr lang="en-IN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48AF6172-BA82-C156-A1F1-167404A8BAFC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6514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9A193-7CA4-DD92-6FBB-BE30CB110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3F395-3A00-3EC0-D5C2-BFAC76F28B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60" y="429769"/>
            <a:ext cx="11396332" cy="970610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Problem Statement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A7624FC-519D-A24F-4E05-8A7240471FB0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2A152-80A1-10A8-298D-C73A27462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3</a:t>
            </a:fld>
            <a:endParaRPr lang="en-IN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F2A0CC6B-37F8-56FD-0A46-BE63D962467F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947DE75-DC9C-85D5-682F-03C0AC4A565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30587" y="2054427"/>
            <a:ext cx="748270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Description of the problem being addressed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Many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people struggle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keep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of where their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money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goes. Without a clear way to set limits and record expenses, it’s easy to overspend, miss bills, and lose sight of financial goals.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Importance of the problem for this project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Financial Stress Reduction: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Helping users see their spending at a glance minimizes surprises and anxiety.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Better Decision‑Making: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clear budget data, users can adjust habits, cut unnecessary costs, and save more effectively.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Accessibility: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Beginners need a simple, guided tool—without it, they may never establish good budgeting habits.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8B9D7F-243C-1856-0E96-AF7E59E99A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77" t="12693" r="21083" b="13383"/>
          <a:stretch/>
        </p:blipFill>
        <p:spPr>
          <a:xfrm>
            <a:off x="426860" y="2144300"/>
            <a:ext cx="3457095" cy="400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22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300D83-29D2-3EEB-37C9-B604115F2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AC7DF-34D0-2B23-7AE8-78C9FF1E72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60" y="429769"/>
            <a:ext cx="11396332" cy="970610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System Architecture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C9D43E-0B99-0C98-6731-8A9D5BD1C17D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37ED16-1AA8-F470-7DDB-CA4F7BA0A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4</a:t>
            </a:fld>
            <a:endParaRPr lang="en-IN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F40AD961-0DB0-12ED-8CF4-CA4536276BB4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4F35822-0535-EE06-9AF6-6F122D532AE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21780" y="1563097"/>
            <a:ext cx="7338428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System Architecture of Your Budget Buddy Project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Client (Browser)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Renders HTML/CSS from Jinja2 templates.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JavaScript to fetch category data (/get-categories) and submits 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Web/Application Server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Flask’s built‑in WSGI server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(via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app.run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(debug=True)) handles all incoming HTTP(S) requests.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Routes implement: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Authentication &amp; Sessions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(/login, /register,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login_required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Budget Management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(/budget-setup, streak logic)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Expense Logging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(/add-expense, JSON API /get-categories)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Reporting &amp; History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(/budget-progress, /reports, /history, /monthly-reset, /reset-all)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Access Layer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flask_mysqldb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extension connects Flask to MySQL.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Raw SQL queries against four tables: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budgets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categories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expenses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Database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MySQL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running on localhost:3307, database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budgetbuddy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Persists user accounts, budget periods, category allocations,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and expense records.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C627911-55BA-BF25-8FBD-BF2EE1FD6C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2750930"/>
              </p:ext>
            </p:extLst>
          </p:nvPr>
        </p:nvGraphicFramePr>
        <p:xfrm>
          <a:off x="5240611" y="4362180"/>
          <a:ext cx="6325217" cy="25295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02A1370-8740-F74E-F604-17CBC8D3A15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8" t="10517" r="18670" b="12514"/>
          <a:stretch/>
        </p:blipFill>
        <p:spPr>
          <a:xfrm>
            <a:off x="8274537" y="1687908"/>
            <a:ext cx="3042489" cy="313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135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813376-3CC4-5819-F542-759CE30E0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BE4C5-0548-F5EA-0E29-03D1C9A1D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60" y="429769"/>
            <a:ext cx="11396332" cy="970610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ER Diagram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13E9CE9-173B-C2BE-10A5-D05D3BC3EF5E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0944FA-DB73-216B-6D07-DA7039ECD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8552" y="6229028"/>
            <a:ext cx="2743200" cy="365125"/>
          </a:xfrm>
        </p:spPr>
        <p:txBody>
          <a:bodyPr/>
          <a:lstStyle/>
          <a:p>
            <a:fld id="{6B1EC7F1-E0A0-4746-8AEE-00D8D8D104A7}" type="slidenum">
              <a:rPr lang="en-IN" smtClean="0"/>
              <a:t>5</a:t>
            </a:fld>
            <a:endParaRPr lang="en-IN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7584E39D-8D28-A946-670D-D5B1562793CD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1058DB-2F72-C803-9A4B-D3C2B230FD30}"/>
              </a:ext>
            </a:extLst>
          </p:cNvPr>
          <p:cNvSpPr/>
          <p:nvPr/>
        </p:nvSpPr>
        <p:spPr>
          <a:xfrm>
            <a:off x="3177800" y="3715220"/>
            <a:ext cx="1898248" cy="671329"/>
          </a:xfrm>
          <a:prstGeom prst="rect">
            <a:avLst/>
          </a:prstGeom>
          <a:ln>
            <a:solidFill>
              <a:srgbClr val="22312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rgbClr val="223127"/>
                </a:solidFill>
              </a:rPr>
              <a:t>budgets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EE792-382A-DAE5-E804-FF75AB8CF138}"/>
              </a:ext>
            </a:extLst>
          </p:cNvPr>
          <p:cNvSpPr/>
          <p:nvPr/>
        </p:nvSpPr>
        <p:spPr>
          <a:xfrm>
            <a:off x="6677201" y="4437155"/>
            <a:ext cx="1898248" cy="671329"/>
          </a:xfrm>
          <a:prstGeom prst="rect">
            <a:avLst/>
          </a:prstGeom>
          <a:ln>
            <a:solidFill>
              <a:srgbClr val="22312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Categories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4395FB-292E-9CE8-81F3-DF0708DA3627}"/>
              </a:ext>
            </a:extLst>
          </p:cNvPr>
          <p:cNvSpPr/>
          <p:nvPr/>
        </p:nvSpPr>
        <p:spPr>
          <a:xfrm>
            <a:off x="662016" y="2371229"/>
            <a:ext cx="1898248" cy="671329"/>
          </a:xfrm>
          <a:prstGeom prst="rect">
            <a:avLst/>
          </a:prstGeom>
          <a:ln>
            <a:solidFill>
              <a:srgbClr val="22312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US" sz="1800" b="1" dirty="0">
                <a:solidFill>
                  <a:srgbClr val="223127"/>
                </a:solidFill>
                <a:latin typeface="Arial" panose="020B0604020202020204" pitchFamily="34" charset="0"/>
              </a:rPr>
              <a:t>U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CFC905-EB22-4244-8997-B72E9DADCDAA}"/>
              </a:ext>
            </a:extLst>
          </p:cNvPr>
          <p:cNvSpPr/>
          <p:nvPr/>
        </p:nvSpPr>
        <p:spPr>
          <a:xfrm>
            <a:off x="9293504" y="2330898"/>
            <a:ext cx="1898248" cy="671329"/>
          </a:xfrm>
          <a:prstGeom prst="rect">
            <a:avLst/>
          </a:prstGeom>
          <a:ln>
            <a:solidFill>
              <a:srgbClr val="223127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/>
              <a:t>Expenses 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DB5D613-D881-B275-5414-D258825AE77E}"/>
              </a:ext>
            </a:extLst>
          </p:cNvPr>
          <p:cNvSpPr/>
          <p:nvPr/>
        </p:nvSpPr>
        <p:spPr>
          <a:xfrm>
            <a:off x="450082" y="3247976"/>
            <a:ext cx="2604304" cy="1343132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Id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Username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Email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Password</a:t>
            </a:r>
          </a:p>
          <a:p>
            <a:pPr marL="628650" marR="0" lvl="1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streak</a:t>
            </a:r>
            <a:endParaRPr lang="en-IN" sz="1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ECF68EA-1DD9-5AE1-ED18-67E3CB4F46F9}"/>
              </a:ext>
            </a:extLst>
          </p:cNvPr>
          <p:cNvSpPr/>
          <p:nvPr/>
        </p:nvSpPr>
        <p:spPr>
          <a:xfrm>
            <a:off x="2707418" y="4847208"/>
            <a:ext cx="3154828" cy="1766169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user_id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start_date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end_date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total_budget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used_budget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is_active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AA20B86-3479-1A17-B735-BDC539CC9EAE}"/>
              </a:ext>
            </a:extLst>
          </p:cNvPr>
          <p:cNvSpPr/>
          <p:nvPr/>
        </p:nvSpPr>
        <p:spPr>
          <a:xfrm>
            <a:off x="6039609" y="5197372"/>
            <a:ext cx="3474095" cy="1361034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Id</a:t>
            </a: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budget_id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name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expected_amount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spent_amount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F802278-FFB0-7F63-9B0B-35FCC992D07F}"/>
              </a:ext>
            </a:extLst>
          </p:cNvPr>
          <p:cNvSpPr/>
          <p:nvPr/>
        </p:nvSpPr>
        <p:spPr>
          <a:xfrm>
            <a:off x="8665214" y="3247976"/>
            <a:ext cx="3154828" cy="1843470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user_id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budget_</a:t>
            </a: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category_id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expense_date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amount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note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6E8D3C2-6D33-990C-9352-D41CA4D0E518}"/>
              </a:ext>
            </a:extLst>
          </p:cNvPr>
          <p:cNvCxnSpPr>
            <a:cxnSpLocks/>
            <a:stCxn id="5" idx="2"/>
            <a:endCxn id="13" idx="0"/>
          </p:cNvCxnSpPr>
          <p:nvPr/>
        </p:nvCxnSpPr>
        <p:spPr>
          <a:xfrm rot="16200000" flipH="1">
            <a:off x="1578978" y="3074720"/>
            <a:ext cx="205418" cy="141094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5AAB31E8-0E87-4F69-01B6-B911268C5A0F}"/>
              </a:ext>
            </a:extLst>
          </p:cNvPr>
          <p:cNvCxnSpPr>
            <a:cxnSpLocks/>
            <a:stCxn id="8" idx="2"/>
            <a:endCxn id="17" idx="2"/>
          </p:cNvCxnSpPr>
          <p:nvPr/>
        </p:nvCxnSpPr>
        <p:spPr>
          <a:xfrm rot="5400000">
            <a:off x="8870179" y="2797262"/>
            <a:ext cx="1167484" cy="1577414"/>
          </a:xfrm>
          <a:prstGeom prst="curvedConnector4">
            <a:avLst>
              <a:gd name="adj1" fmla="val 10525"/>
              <a:gd name="adj2" fmla="val 114492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27189642-43BB-61FF-DBD2-490C4DE0090A}"/>
              </a:ext>
            </a:extLst>
          </p:cNvPr>
          <p:cNvCxnSpPr>
            <a:cxnSpLocks/>
            <a:stCxn id="3" idx="2"/>
            <a:endCxn id="15" idx="0"/>
          </p:cNvCxnSpPr>
          <p:nvPr/>
        </p:nvCxnSpPr>
        <p:spPr>
          <a:xfrm rot="16200000" flipH="1">
            <a:off x="3975549" y="4537924"/>
            <a:ext cx="460659" cy="157908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72B4EA18-5902-5E45-F36E-BD7A405E05CE}"/>
              </a:ext>
            </a:extLst>
          </p:cNvPr>
          <p:cNvCxnSpPr>
            <a:cxnSpLocks/>
            <a:stCxn id="4" idx="1"/>
            <a:endCxn id="16" idx="2"/>
          </p:cNvCxnSpPr>
          <p:nvPr/>
        </p:nvCxnSpPr>
        <p:spPr>
          <a:xfrm rot="10800000" flipV="1">
            <a:off x="6039609" y="4772819"/>
            <a:ext cx="637592" cy="1105069"/>
          </a:xfrm>
          <a:prstGeom prst="curvedConnector3">
            <a:avLst>
              <a:gd name="adj1" fmla="val 13585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4" name="Diamond 33">
            <a:extLst>
              <a:ext uri="{FF2B5EF4-FFF2-40B4-BE49-F238E27FC236}">
                <a16:creationId xmlns:a16="http://schemas.microsoft.com/office/drawing/2014/main" id="{679987A6-4970-709D-BB15-25B932373909}"/>
              </a:ext>
            </a:extLst>
          </p:cNvPr>
          <p:cNvSpPr/>
          <p:nvPr/>
        </p:nvSpPr>
        <p:spPr>
          <a:xfrm>
            <a:off x="556049" y="5132190"/>
            <a:ext cx="1768218" cy="1082792"/>
          </a:xfrm>
          <a:prstGeom prst="diamon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adds</a:t>
            </a:r>
          </a:p>
        </p:txBody>
      </p: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907080B3-7095-2CF4-4217-3402C7588EEB}"/>
              </a:ext>
            </a:extLst>
          </p:cNvPr>
          <p:cNvCxnSpPr>
            <a:cxnSpLocks/>
            <a:stCxn id="5" idx="1"/>
            <a:endCxn id="34" idx="1"/>
          </p:cNvCxnSpPr>
          <p:nvPr/>
        </p:nvCxnSpPr>
        <p:spPr>
          <a:xfrm rot="10800000" flipV="1">
            <a:off x="556050" y="2706894"/>
            <a:ext cx="105967" cy="2966692"/>
          </a:xfrm>
          <a:prstGeom prst="curvedConnector3">
            <a:avLst>
              <a:gd name="adj1" fmla="val 31572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Diamond 50">
            <a:extLst>
              <a:ext uri="{FF2B5EF4-FFF2-40B4-BE49-F238E27FC236}">
                <a16:creationId xmlns:a16="http://schemas.microsoft.com/office/drawing/2014/main" id="{72D6DBA4-499A-37EF-B69E-4CB58CE2F017}"/>
              </a:ext>
            </a:extLst>
          </p:cNvPr>
          <p:cNvSpPr/>
          <p:nvPr/>
        </p:nvSpPr>
        <p:spPr>
          <a:xfrm>
            <a:off x="5700198" y="3354363"/>
            <a:ext cx="1768218" cy="1082792"/>
          </a:xfrm>
          <a:prstGeom prst="diamon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Includes</a:t>
            </a:r>
          </a:p>
        </p:txBody>
      </p:sp>
      <p:cxnSp>
        <p:nvCxnSpPr>
          <p:cNvPr id="52" name="Connector: Curved 51">
            <a:extLst>
              <a:ext uri="{FF2B5EF4-FFF2-40B4-BE49-F238E27FC236}">
                <a16:creationId xmlns:a16="http://schemas.microsoft.com/office/drawing/2014/main" id="{10132F07-443F-E9C6-1F7B-C2ED423ACEC8}"/>
              </a:ext>
            </a:extLst>
          </p:cNvPr>
          <p:cNvCxnSpPr>
            <a:cxnSpLocks/>
            <a:stCxn id="3" idx="3"/>
            <a:endCxn id="51" idx="1"/>
          </p:cNvCxnSpPr>
          <p:nvPr/>
        </p:nvCxnSpPr>
        <p:spPr>
          <a:xfrm flipV="1">
            <a:off x="5076048" y="3895759"/>
            <a:ext cx="624150" cy="155126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Connector: Curved 65">
            <a:extLst>
              <a:ext uri="{FF2B5EF4-FFF2-40B4-BE49-F238E27FC236}">
                <a16:creationId xmlns:a16="http://schemas.microsoft.com/office/drawing/2014/main" id="{9CAA9655-5236-1F78-45F3-E75791BC6FDD}"/>
              </a:ext>
            </a:extLst>
          </p:cNvPr>
          <p:cNvCxnSpPr>
            <a:cxnSpLocks/>
            <a:stCxn id="51" idx="3"/>
            <a:endCxn id="4" idx="0"/>
          </p:cNvCxnSpPr>
          <p:nvPr/>
        </p:nvCxnSpPr>
        <p:spPr>
          <a:xfrm>
            <a:off x="7468416" y="3895759"/>
            <a:ext cx="157909" cy="54139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9AD2EA51-2271-14EF-8EF9-740A217AADF5}"/>
              </a:ext>
            </a:extLst>
          </p:cNvPr>
          <p:cNvCxnSpPr>
            <a:cxnSpLocks/>
            <a:stCxn id="34" idx="3"/>
            <a:endCxn id="3" idx="1"/>
          </p:cNvCxnSpPr>
          <p:nvPr/>
        </p:nvCxnSpPr>
        <p:spPr>
          <a:xfrm flipV="1">
            <a:off x="2324267" y="4050885"/>
            <a:ext cx="853533" cy="1622701"/>
          </a:xfrm>
          <a:prstGeom prst="curvedConnector3">
            <a:avLst>
              <a:gd name="adj1" fmla="val 7847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4" name="Diamond 83">
            <a:extLst>
              <a:ext uri="{FF2B5EF4-FFF2-40B4-BE49-F238E27FC236}">
                <a16:creationId xmlns:a16="http://schemas.microsoft.com/office/drawing/2014/main" id="{76FFF30E-C046-59EE-9EEF-093D0DE12E92}"/>
              </a:ext>
            </a:extLst>
          </p:cNvPr>
          <p:cNvSpPr/>
          <p:nvPr/>
        </p:nvSpPr>
        <p:spPr>
          <a:xfrm>
            <a:off x="9921795" y="5188896"/>
            <a:ext cx="1898247" cy="1082792"/>
          </a:xfrm>
          <a:prstGeom prst="diamon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classifies</a:t>
            </a:r>
          </a:p>
        </p:txBody>
      </p: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4D38741F-09B7-79E8-AC34-556EBE144E9B}"/>
              </a:ext>
            </a:extLst>
          </p:cNvPr>
          <p:cNvCxnSpPr>
            <a:cxnSpLocks/>
            <a:stCxn id="4" idx="3"/>
            <a:endCxn id="84" idx="1"/>
          </p:cNvCxnSpPr>
          <p:nvPr/>
        </p:nvCxnSpPr>
        <p:spPr>
          <a:xfrm>
            <a:off x="8575449" y="4772820"/>
            <a:ext cx="1346346" cy="957472"/>
          </a:xfrm>
          <a:prstGeom prst="curvedConnector3">
            <a:avLst>
              <a:gd name="adj1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62F53100-B245-BDD5-53BE-AF78D7C4C6B0}"/>
              </a:ext>
            </a:extLst>
          </p:cNvPr>
          <p:cNvCxnSpPr>
            <a:cxnSpLocks/>
            <a:stCxn id="84" idx="3"/>
            <a:endCxn id="8" idx="3"/>
          </p:cNvCxnSpPr>
          <p:nvPr/>
        </p:nvCxnSpPr>
        <p:spPr>
          <a:xfrm flipH="1" flipV="1">
            <a:off x="11191752" y="2666563"/>
            <a:ext cx="628290" cy="3063729"/>
          </a:xfrm>
          <a:prstGeom prst="curvedConnector3">
            <a:avLst>
              <a:gd name="adj1" fmla="val -2164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7" name="Diamond 106">
            <a:extLst>
              <a:ext uri="{FF2B5EF4-FFF2-40B4-BE49-F238E27FC236}">
                <a16:creationId xmlns:a16="http://schemas.microsoft.com/office/drawing/2014/main" id="{FBC249D4-F1A8-9C14-182C-C7CBD12CA04A}"/>
              </a:ext>
            </a:extLst>
          </p:cNvPr>
          <p:cNvSpPr/>
          <p:nvPr/>
        </p:nvSpPr>
        <p:spPr>
          <a:xfrm>
            <a:off x="2845790" y="1867932"/>
            <a:ext cx="1898247" cy="1082792"/>
          </a:xfrm>
          <a:prstGeom prst="diamon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Records</a:t>
            </a:r>
          </a:p>
        </p:txBody>
      </p:sp>
      <p:cxnSp>
        <p:nvCxnSpPr>
          <p:cNvPr id="108" name="Connector: Curved 107">
            <a:extLst>
              <a:ext uri="{FF2B5EF4-FFF2-40B4-BE49-F238E27FC236}">
                <a16:creationId xmlns:a16="http://schemas.microsoft.com/office/drawing/2014/main" id="{2ED39B33-B9F6-E94F-81A3-DB472054FE22}"/>
              </a:ext>
            </a:extLst>
          </p:cNvPr>
          <p:cNvCxnSpPr>
            <a:cxnSpLocks/>
            <a:stCxn id="5" idx="3"/>
            <a:endCxn id="107" idx="2"/>
          </p:cNvCxnSpPr>
          <p:nvPr/>
        </p:nvCxnSpPr>
        <p:spPr>
          <a:xfrm>
            <a:off x="2560264" y="2706894"/>
            <a:ext cx="1234650" cy="243830"/>
          </a:xfrm>
          <a:prstGeom prst="curvedConnector4">
            <a:avLst>
              <a:gd name="adj1" fmla="val 11563"/>
              <a:gd name="adj2" fmla="val 193754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9" name="Connector: Curved 108">
            <a:extLst>
              <a:ext uri="{FF2B5EF4-FFF2-40B4-BE49-F238E27FC236}">
                <a16:creationId xmlns:a16="http://schemas.microsoft.com/office/drawing/2014/main" id="{381D8B76-EFAF-E46D-8B12-763EA32F4B12}"/>
              </a:ext>
            </a:extLst>
          </p:cNvPr>
          <p:cNvCxnSpPr>
            <a:cxnSpLocks/>
            <a:stCxn id="107" idx="3"/>
            <a:endCxn id="8" idx="0"/>
          </p:cNvCxnSpPr>
          <p:nvPr/>
        </p:nvCxnSpPr>
        <p:spPr>
          <a:xfrm flipV="1">
            <a:off x="4744037" y="2330898"/>
            <a:ext cx="5498591" cy="78430"/>
          </a:xfrm>
          <a:prstGeom prst="curvedConnector4">
            <a:avLst>
              <a:gd name="adj1" fmla="val 31054"/>
              <a:gd name="adj2" fmla="val 9817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0" name="Diamond 129">
            <a:extLst>
              <a:ext uri="{FF2B5EF4-FFF2-40B4-BE49-F238E27FC236}">
                <a16:creationId xmlns:a16="http://schemas.microsoft.com/office/drawing/2014/main" id="{8180AA9A-0C69-2664-EE3F-1A5E787DFFB4}"/>
              </a:ext>
            </a:extLst>
          </p:cNvPr>
          <p:cNvSpPr/>
          <p:nvPr/>
        </p:nvSpPr>
        <p:spPr>
          <a:xfrm>
            <a:off x="5660100" y="2227127"/>
            <a:ext cx="1768218" cy="1082792"/>
          </a:xfrm>
          <a:prstGeom prst="diamond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Groups</a:t>
            </a:r>
          </a:p>
        </p:txBody>
      </p:sp>
      <p:cxnSp>
        <p:nvCxnSpPr>
          <p:cNvPr id="131" name="Connector: Curved 130">
            <a:extLst>
              <a:ext uri="{FF2B5EF4-FFF2-40B4-BE49-F238E27FC236}">
                <a16:creationId xmlns:a16="http://schemas.microsoft.com/office/drawing/2014/main" id="{AC5713DB-2FA5-888C-C2A5-9E11E9D3D679}"/>
              </a:ext>
            </a:extLst>
          </p:cNvPr>
          <p:cNvCxnSpPr>
            <a:cxnSpLocks/>
            <a:stCxn id="3" idx="0"/>
            <a:endCxn id="130" idx="1"/>
          </p:cNvCxnSpPr>
          <p:nvPr/>
        </p:nvCxnSpPr>
        <p:spPr>
          <a:xfrm rot="5400000" flipH="1" flipV="1">
            <a:off x="4420164" y="2475284"/>
            <a:ext cx="946697" cy="1533176"/>
          </a:xfrm>
          <a:prstGeom prst="curvedConnector2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Connector: Curved 131">
            <a:extLst>
              <a:ext uri="{FF2B5EF4-FFF2-40B4-BE49-F238E27FC236}">
                <a16:creationId xmlns:a16="http://schemas.microsoft.com/office/drawing/2014/main" id="{95F12B1D-046D-62E4-A2BA-7CABE6BF6315}"/>
              </a:ext>
            </a:extLst>
          </p:cNvPr>
          <p:cNvCxnSpPr>
            <a:cxnSpLocks/>
            <a:stCxn id="130" idx="3"/>
            <a:endCxn id="8" idx="1"/>
          </p:cNvCxnSpPr>
          <p:nvPr/>
        </p:nvCxnSpPr>
        <p:spPr>
          <a:xfrm flipV="1">
            <a:off x="7428318" y="2666563"/>
            <a:ext cx="1865186" cy="1019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087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6A5AC-C58F-F574-5701-CF5BA55C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468AD7-8EB0-C86D-A841-F7A2E7E93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852" y="303266"/>
            <a:ext cx="11329416" cy="1045123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8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Reverse Engineering Diagram  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F3C2F14-ACC0-0503-1BFB-1CB4C4B0F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841" y="1687389"/>
            <a:ext cx="6459445" cy="49100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1B0B79-23D5-3DA5-D8B5-88D4B4E13924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0D55343-2F00-B61A-3DAF-E84723C0A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6</a:t>
            </a:fld>
            <a:endParaRPr lang="en-IN"/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A1DDD999-2A60-510A-D27C-C88CB452BF65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3425C7-1174-C869-2FDA-CA4E94507F85}"/>
              </a:ext>
            </a:extLst>
          </p:cNvPr>
          <p:cNvCxnSpPr>
            <a:cxnSpLocks/>
          </p:cNvCxnSpPr>
          <p:nvPr/>
        </p:nvCxnSpPr>
        <p:spPr>
          <a:xfrm>
            <a:off x="376060" y="150972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3480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4BA40-C738-D8DB-AE2D-7AB591AFA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2436732-9C39-13BE-9A09-364AEA17CD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219920"/>
            <a:ext cx="11295888" cy="104512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Database Schema</a:t>
            </a:r>
            <a:endParaRPr lang="en-IN" sz="44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DF4844-FEC6-4BF7-96BD-CA2B76555DFC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3AD781E-442E-1C23-1790-C381E3981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7</a:t>
            </a:fld>
            <a:endParaRPr lang="en-IN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2A7F9D61-9B99-CBB8-3E1C-03AA58CD9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056" y="2065646"/>
            <a:ext cx="5550408" cy="4031873"/>
          </a:xfrm>
          <a:prstGeom prst="rect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AutoNum type="arabicPeriod"/>
              <a:tabLst/>
            </a:pPr>
            <a:r>
              <a:rPr lang="en-US" altLang="en-US" sz="1600" b="1" dirty="0">
                <a:solidFill>
                  <a:srgbClr val="223127"/>
                </a:solidFill>
                <a:latin typeface="Arial" panose="020B0604020202020204" pitchFamily="34" charset="0"/>
              </a:rPr>
              <a:t>U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sers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Columns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(INT, PK)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username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(VARCHAR)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email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(VARCHAR)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password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(VARCHAR)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streak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(INT) — count of consecutive under‑budget months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Notes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Each row is one registered user.</a:t>
            </a: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 is referenced by all other tables to tie data back to the user.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10D74AA0-176E-2BF5-35AC-926646E5B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176" y="2065646"/>
            <a:ext cx="5382768" cy="4031873"/>
          </a:xfrm>
          <a:prstGeom prst="rect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budgets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(INT, PK)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(INT, FK → users.id)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start_date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end_date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(DATE) — budget period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total_budget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(DECIMAL) — the user’s planned total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used_budget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(DECIMAL) — running sum of actual spend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is_active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(TINYINT) — flags the current month’s budget</a:t>
            </a:r>
          </a:p>
          <a:p>
            <a:pPr marR="0" lvl="1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 user → N budgets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 user can have many monthly budgets, but only one active at a time).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2EE12E0C-8B1A-DD6B-DB2E-2B50D065E464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258FF8-580C-A9FD-DA20-A88EA115E117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8867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BAF9B-7848-C4C3-C3E0-FAA067DE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1112A64-C579-7681-233E-047479A126A9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F18EC450-D3E2-EC88-A880-27E29F9C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8</a:t>
            </a:fld>
            <a:endParaRPr lang="en-IN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4DD44B0D-C5FB-297F-B7A3-994014075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055" y="1759656"/>
            <a:ext cx="5550408" cy="4524315"/>
          </a:xfrm>
          <a:prstGeom prst="rect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3. Categories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Columns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(INT, PK)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(INT, FK → budgets.id)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(VARCHAR) — e.g. “Food”, “Transport”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expected_amount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(DECIMAL) — portion of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total_budget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223127"/>
                </a:solidFill>
                <a:effectLst/>
                <a:latin typeface="Arial Unicode MS" panose="020B0604020202020204" pitchFamily="34" charset="-128"/>
              </a:rPr>
              <a:t>spent_amount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</a:rPr>
              <a:t> (DECIMAL) — tally of expenses in this category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Relationships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1 budget → N categories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Arial" panose="020B0604020202020204" pitchFamily="34" charset="0"/>
              </a:rPr>
              <a:t> (each budget is broken into multiple categories).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solidFill>
                <a:srgbClr val="223127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823E0E8C-B116-52B8-DE0D-3AA4A522C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3538" y="1759657"/>
            <a:ext cx="5769864" cy="4524315"/>
          </a:xfrm>
          <a:prstGeom prst="rect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Expenses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(INT, PK)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(INT, FK → users.id)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(INT, FK → budgets.id)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category_id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(INT, FK → categories.id)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expense_date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(DATE)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amount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(DECIMAL)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 (VARCHAR)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Relationships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 user → N expenses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 budget → N expenses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857250" marR="0" lvl="1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 category → N expenses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Every expense row belongs to exactly one user, one budget period, and one category within that budget.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867DB180-5A8D-7F88-542B-8BB830D8EA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4" y="327349"/>
            <a:ext cx="11515347" cy="940499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Database Schema</a:t>
            </a:r>
            <a:endParaRPr lang="en-IN" sz="44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267F16B6-90F8-38FB-DCA5-DBBA1BCCA7CC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074C8EC-6818-A459-9AB3-E12B6C28646F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8511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3C7ABA-A3B6-81F7-AAC0-0437459EB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093B1-0EA4-F0E3-08DE-06957CB44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5905" y="371155"/>
            <a:ext cx="11396332" cy="970610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Normalization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178012-DB32-95D9-5090-0F7E3EB200F5}"/>
              </a:ext>
            </a:extLst>
          </p:cNvPr>
          <p:cNvCxnSpPr>
            <a:cxnSpLocks/>
          </p:cNvCxnSpPr>
          <p:nvPr/>
        </p:nvCxnSpPr>
        <p:spPr>
          <a:xfrm>
            <a:off x="426860" y="14182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95478D-ED31-3140-7DAC-254D42D77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48552" y="6229028"/>
            <a:ext cx="2743200" cy="365125"/>
          </a:xfrm>
        </p:spPr>
        <p:txBody>
          <a:bodyPr/>
          <a:lstStyle/>
          <a:p>
            <a:fld id="{6B1EC7F1-E0A0-4746-8AEE-00D8D8D104A7}" type="slidenum">
              <a:rPr lang="en-IN" smtClean="0"/>
              <a:t>9</a:t>
            </a:fld>
            <a:endParaRPr lang="en-IN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C966A16C-06DA-F3AF-FEBE-6F317B37D424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F890F355-CCE4-DA6C-1B9B-C97DEB2A96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656618"/>
              </p:ext>
            </p:extLst>
          </p:nvPr>
        </p:nvGraphicFramePr>
        <p:xfrm>
          <a:off x="8289372" y="4074160"/>
          <a:ext cx="3303873" cy="24126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Rectangle 8">
            <a:extLst>
              <a:ext uri="{FF2B5EF4-FFF2-40B4-BE49-F238E27FC236}">
                <a16:creationId xmlns:a16="http://schemas.microsoft.com/office/drawing/2014/main" id="{E633F09E-D651-2F73-5291-E828F67529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60" y="1533898"/>
            <a:ext cx="1150895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Normalization of </a:t>
            </a:r>
            <a:r>
              <a:rPr lang="en-US" altLang="en-US" sz="1400" b="1" dirty="0">
                <a:latin typeface="Arial Unicode MS" panose="020B0604020202020204" pitchFamily="34" charset="-128"/>
              </a:rPr>
              <a:t>B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udget </a:t>
            </a:r>
            <a:r>
              <a:rPr lang="en-US" altLang="en-US" sz="1400" b="1" dirty="0">
                <a:latin typeface="Arial Unicode MS" panose="020B0604020202020204" pitchFamily="34" charset="-128"/>
              </a:rPr>
              <a:t>B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uddy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Database — Up to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 Normal Form (3NF)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Normalization is a database design technique to eliminate redundancy and improve data integrity. The </a:t>
            </a:r>
            <a:r>
              <a:rPr lang="en-US" altLang="en-US" sz="1400" dirty="0">
                <a:latin typeface="Arial Unicode MS" panose="020B0604020202020204" pitchFamily="34" charset="-128"/>
              </a:rPr>
              <a:t>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udget </a:t>
            </a:r>
            <a:r>
              <a:rPr lang="en-US" altLang="en-US" sz="1400" dirty="0">
                <a:latin typeface="Arial Unicode MS" panose="020B0604020202020204" pitchFamily="34" charset="-128"/>
              </a:rPr>
              <a:t>B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uddy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schema follows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3NF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as explained below:</a:t>
            </a:r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C1859D4C-D4F7-345E-63B7-BF4F9E2D0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860" y="2463823"/>
            <a:ext cx="4012820" cy="169277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First Normal Form (1NF) – Atomic Columns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table has: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Atomic (indivisible) values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Unique rows with a primary key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username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email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single-valued 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users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expenses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is a single text field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A157B379-7A14-B0A9-C374-A2C4314FD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3604" y="2463823"/>
            <a:ext cx="6951536" cy="149271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Second Normal Form (2NF) – No Partial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All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non-key columns depend on the entire primary key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Applies mainly to tables with composite keys (not used here, but still respected)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categories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name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expected_amount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depend entirely on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budget_id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expenses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amount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etc., depend on the whole row identified by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1" name="Rectangle 14">
            <a:extLst>
              <a:ext uri="{FF2B5EF4-FFF2-40B4-BE49-F238E27FC236}">
                <a16:creationId xmlns:a16="http://schemas.microsoft.com/office/drawing/2014/main" id="{DB15021C-9E14-F805-4FA6-D2C5330661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189" y="4299634"/>
            <a:ext cx="8017323" cy="1692771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Third Normal Form (3NF) – No Transitive Dependencies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Non-key columns do not depend on other non-key columns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Examples: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email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doesn’t depend on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username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; both depend only on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budgets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total_budget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used_budget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is_active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depend only on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id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not on 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user_id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expenses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amount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note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are directly related to the expense entry, not indirectly through category or user</a:t>
            </a: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91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E9F5F3-32EC-A0C3-FB02-62ED29155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7A6DA-8B3C-657F-012E-403507EE4C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860" y="348489"/>
            <a:ext cx="11396332" cy="970610"/>
          </a:xfrm>
          <a:ln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>
              <a:buNone/>
            </a:pPr>
            <a:r>
              <a:rPr lang="en-US" sz="4000" b="1" dirty="0">
                <a:solidFill>
                  <a:schemeClr val="bg1"/>
                </a:solidFill>
              </a:rPr>
              <a:t> Budget Buddy – Basic Flow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76751A-683C-97BA-BBAE-186C14F505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392" t="12940" r="39724" b="42662"/>
          <a:stretch/>
        </p:blipFill>
        <p:spPr>
          <a:xfrm>
            <a:off x="999884" y="1874155"/>
            <a:ext cx="3541776" cy="3756836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39F16A7-876E-BB12-7866-C50667EB0802}"/>
              </a:ext>
            </a:extLst>
          </p:cNvPr>
          <p:cNvCxnSpPr>
            <a:cxnSpLocks/>
          </p:cNvCxnSpPr>
          <p:nvPr/>
        </p:nvCxnSpPr>
        <p:spPr>
          <a:xfrm>
            <a:off x="426860" y="148940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" name="Subtitle 11">
            <a:extLst>
              <a:ext uri="{FF2B5EF4-FFF2-40B4-BE49-F238E27FC236}">
                <a16:creationId xmlns:a16="http://schemas.microsoft.com/office/drawing/2014/main" id="{DEF4C032-F7F2-1ADB-9727-F5FD8D9AB8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2200" y="1622054"/>
            <a:ext cx="5427840" cy="5093701"/>
          </a:xfrm>
        </p:spPr>
        <p:txBody>
          <a:bodyPr>
            <a:noAutofit/>
          </a:bodyPr>
          <a:lstStyle/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User Registration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New users sign up with name, email, and password.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User Login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Registered users log in securely.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Dashboard Access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View all personal budgets and current progress.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Create Budget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Add budgets by category, amount, and time range.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Add Expenses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Log daily expenses under selected budget.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Track Progress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See usage, remaining budget, and alerts.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View History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See list of past budgets and spending.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Monthly Reset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Budgets auto-renew or reset monthly (if opted).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Profile Management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Edit personal info and manage password.</a:t>
            </a:r>
          </a:p>
          <a:p>
            <a:pPr algn="l">
              <a:buFont typeface="+mj-lt"/>
              <a:buAutoNum type="arabicPeriod"/>
            </a:pPr>
            <a:r>
              <a:rPr lang="en-US" sz="1400" b="1" dirty="0">
                <a:solidFill>
                  <a:srgbClr val="223127"/>
                </a:solidFill>
              </a:rPr>
              <a:t>View Reports</a:t>
            </a:r>
            <a:br>
              <a:rPr lang="en-US" sz="1400" dirty="0">
                <a:solidFill>
                  <a:srgbClr val="223127"/>
                </a:solidFill>
              </a:rPr>
            </a:br>
            <a:r>
              <a:rPr lang="en-US" sz="1400" dirty="0">
                <a:solidFill>
                  <a:srgbClr val="223127"/>
                </a:solidFill>
              </a:rPr>
              <a:t>→ Visual charts for expense analysis.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35BE03-D5A0-D1F3-BDD1-BB40CDE05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10</a:t>
            </a:fld>
            <a:endParaRPr lang="en-IN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921CFD8C-51F2-3DD9-AD01-C4D076B40DE1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26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7D75EB-CB68-E678-FA2B-788BDDE9E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70478DF3-0D9A-8A03-33F5-AA6D62621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94120C7-BF44-B9FC-F722-1E4A05F9F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587"/>
          <a:stretch/>
        </p:blipFill>
        <p:spPr>
          <a:xfrm>
            <a:off x="132080" y="1088283"/>
            <a:ext cx="11933027" cy="562747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8CD66C-AE19-2050-12B2-558BB9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11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C24889-1295-BBDA-EFAE-F04E928661FE}"/>
              </a:ext>
            </a:extLst>
          </p:cNvPr>
          <p:cNvSpPr txBox="1"/>
          <p:nvPr/>
        </p:nvSpPr>
        <p:spPr>
          <a:xfrm>
            <a:off x="544010" y="385876"/>
            <a:ext cx="11097826" cy="861774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50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Budget Buddy Flow</a:t>
            </a:r>
            <a:endParaRPr lang="en-IN" sz="5000" dirty="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653194-5BFB-B17C-75A8-2B6681DD7FF4}"/>
              </a:ext>
            </a:extLst>
          </p:cNvPr>
          <p:cNvCxnSpPr>
            <a:cxnSpLocks/>
          </p:cNvCxnSpPr>
          <p:nvPr/>
        </p:nvCxnSpPr>
        <p:spPr>
          <a:xfrm>
            <a:off x="1524000" y="140130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5492176-D774-F775-DBF8-3046F8A9D820}"/>
              </a:ext>
            </a:extLst>
          </p:cNvPr>
          <p:cNvSpPr txBox="1"/>
          <p:nvPr/>
        </p:nvSpPr>
        <p:spPr>
          <a:xfrm>
            <a:off x="706374" y="1679366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1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15D87599-8428-1CE8-BE44-18A3EEBD7659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402BDCD-6F63-4A01-729B-25FD5F5A40DD}"/>
              </a:ext>
            </a:extLst>
          </p:cNvPr>
          <p:cNvCxnSpPr>
            <a:cxnSpLocks/>
          </p:cNvCxnSpPr>
          <p:nvPr/>
        </p:nvCxnSpPr>
        <p:spPr>
          <a:xfrm>
            <a:off x="426860" y="147924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E7D5579-2EBD-CE8F-3191-27D9926622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8560" y="457429"/>
            <a:ext cx="695959" cy="6959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67312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C47876-4CCD-F9CD-CCD0-EE42B830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DAEFDC-8CD4-132B-A4CD-3A61994DDF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62CF3A6-C51A-B704-012A-536CA35049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6473C5-86B0-32C9-6F35-17687A5DC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6341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09776A-5538-D895-7999-BE5AA7E95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12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2D50F24-E38F-ED3C-2B22-936FDFEF31B4}"/>
              </a:ext>
            </a:extLst>
          </p:cNvPr>
          <p:cNvSpPr txBox="1"/>
          <p:nvPr/>
        </p:nvSpPr>
        <p:spPr>
          <a:xfrm>
            <a:off x="438136" y="4264913"/>
            <a:ext cx="9144000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1. Register 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User visits /register.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Fills in name, email, username, password.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SQL Query 1 (Check duplication):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             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   SELECT * FROM users WHERE username = %s OR email = %s 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If exists → show error.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If not: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</a:b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SQL Query 2 (Insert new user):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	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INSERT INTO users (name, email, username, password) VALUES (%s, %s, %s, %s) 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Redirect to login page.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42BCD-9A41-36D8-C5AE-8EF28426AD7A}"/>
              </a:ext>
            </a:extLst>
          </p:cNvPr>
          <p:cNvSpPr txBox="1"/>
          <p:nvPr/>
        </p:nvSpPr>
        <p:spPr>
          <a:xfrm>
            <a:off x="505206" y="898999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2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74834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8D8492-02CA-C43B-8DC0-6B426B99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40555A-35D4-B505-019B-16F1C788C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06828"/>
            <a:ext cx="11091672" cy="106140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Register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22511-20D9-55FC-D0C4-85F5B6CE3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13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203515-E307-27CC-D38A-B718F3CB6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143" y="2073815"/>
            <a:ext cx="7510753" cy="4132770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98766AD-C17A-4FD3-E7C4-B830AB9B25F7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35664863-A9B8-1DAF-9E9A-4802A319DD5E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F3F0207-082C-15CD-E161-A380605B4F55}"/>
              </a:ext>
            </a:extLst>
          </p:cNvPr>
          <p:cNvCxnSpPr>
            <a:cxnSpLocks/>
          </p:cNvCxnSpPr>
          <p:nvPr/>
        </p:nvCxnSpPr>
        <p:spPr>
          <a:xfrm>
            <a:off x="426860" y="160116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3314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A9FEE3-9346-6EBF-CF63-434C7D58A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B7368D-DADE-F6E3-FB08-9D3F7ADB2C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EB0CCAB-EA3C-474C-3F6B-08EBE13CB1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9FE40E-902A-80B1-1720-C58AAD18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1830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BF78C-50FF-025D-4390-402C686F5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14</a:t>
            </a:fld>
            <a:endParaRPr lang="en-IN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0EFDE90-DE07-9E6E-A6F6-DD4BFAC5D8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000" y="3979004"/>
            <a:ext cx="805688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2.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User visits /login.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Enters username and password.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SQL Query (Fetch user):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solidFill>
                  <a:srgbClr val="223127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highlight>
                  <a:srgbClr val="FFFF00"/>
                </a:highlight>
                <a:latin typeface="Segoe UI Semibold" panose="020B0702040204020203" pitchFamily="34" charset="0"/>
                <a:cs typeface="Segoe UI Semibold" panose="020B0702040204020203" pitchFamily="34" charset="0"/>
              </a:rPr>
              <a:t>SELECT * FROM users WHERE username = %s 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If password matches → set session.</a:t>
            </a:r>
          </a:p>
          <a:p>
            <a:pPr marL="400050" marR="0" lvl="0" indent="-4000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L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223127"/>
                </a:solidFill>
                <a:effectLst/>
                <a:latin typeface="Segoe UI Semibold" panose="020B0702040204020203" pitchFamily="34" charset="0"/>
                <a:cs typeface="Segoe UI Semibold" panose="020B0702040204020203" pitchFamily="34" charset="0"/>
              </a:rPr>
              <a:t>Redirect to dashboard.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223127"/>
              </a:solidFill>
              <a:effectLst/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A2DD0A-3EE2-7C90-54EB-006DAC3AFD02}"/>
              </a:ext>
            </a:extLst>
          </p:cNvPr>
          <p:cNvSpPr txBox="1"/>
          <p:nvPr/>
        </p:nvSpPr>
        <p:spPr>
          <a:xfrm>
            <a:off x="496062" y="956990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3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062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68486-737C-9520-04C5-D5FA3FBB4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512997-7FEE-CCA3-D82F-31F2B094F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784" y="355599"/>
            <a:ext cx="11109960" cy="111220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Login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FEFD0-0996-ED2F-5DAB-E66B76201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15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E136EB-7DF0-6707-CDBA-CDD9165F1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2128" y="1992464"/>
            <a:ext cx="6987743" cy="2873072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B12C184-3E54-0D38-6CE7-3F09E57B68A5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018EF7AF-4449-692E-42D6-F5C4979F0EEC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9F4E89-D966-A831-F765-1F3B76892375}"/>
              </a:ext>
            </a:extLst>
          </p:cNvPr>
          <p:cNvCxnSpPr>
            <a:cxnSpLocks/>
          </p:cNvCxnSpPr>
          <p:nvPr/>
        </p:nvCxnSpPr>
        <p:spPr>
          <a:xfrm>
            <a:off x="426860" y="165196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6483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5D3646-C258-FFCC-0BB9-E436BBB21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3D2AFB-42C7-B5F9-CD81-5BE6E7AC74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5E277E8-1840-C3E4-4406-75A0AA19DC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A8489-A12C-666E-9E34-8E48D4694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8"/>
            <a:ext cx="12192000" cy="616348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957F2-0BDC-2A84-C698-2FF4BEA7D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16</a:t>
            </a:fld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841BA24-95CA-03D6-0D95-C830E40E636B}"/>
              </a:ext>
            </a:extLst>
          </p:cNvPr>
          <p:cNvSpPr txBox="1"/>
          <p:nvPr/>
        </p:nvSpPr>
        <p:spPr>
          <a:xfrm>
            <a:off x="496062" y="956990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4</a:t>
            </a: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6FD651A-2BF1-66B6-DC42-E0AF1DC40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25" y="4999840"/>
            <a:ext cx="1172355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current streak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 Unicode MS" panose="020B0604020202020204" pitchFamily="34" charset="-128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streak FROM users WHERE id = %s; </a:t>
            </a:r>
            <a:endParaRPr kumimoji="0" lang="en-US" altLang="en-US" sz="16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i="1" dirty="0">
                <a:latin typeface="Arial" panose="020B0604020202020204" pitchFamily="34" charset="0"/>
              </a:rPr>
              <a:t>	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the user how many successful cycles in a row they’ve kept under budget.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5533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5E4F41-5FB0-C870-E124-3E1F9FEF4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B7C201-DC9D-2B93-E054-9AB8740B6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7784" y="355599"/>
            <a:ext cx="11109960" cy="111220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Dashboard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BA991-91BB-7667-08BF-D3C6B0B2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17</a:t>
            </a:fld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3B59A1-FBBE-9022-8F9E-238AE9299776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2E2A02D1-7B37-F478-0074-B855BEA80D07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53E898-0199-8872-4FA1-8195F2AEABDB}"/>
              </a:ext>
            </a:extLst>
          </p:cNvPr>
          <p:cNvCxnSpPr>
            <a:cxnSpLocks/>
          </p:cNvCxnSpPr>
          <p:nvPr/>
        </p:nvCxnSpPr>
        <p:spPr>
          <a:xfrm>
            <a:off x="426860" y="165196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23C1E312-EC72-14EA-019F-EC51E461B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685" y="2017400"/>
            <a:ext cx="1183531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Get current streak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dirty="0">
                <a:latin typeface="Arial Unicode MS" panose="020B0604020202020204" pitchFamily="34" charset="-128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streak FROM users WHERE id = %s;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i="1" dirty="0">
                <a:latin typeface="Arial" panose="020B0604020202020204" pitchFamily="34" charset="0"/>
              </a:rPr>
              <a:t>	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 the user how many successful cycles in a row they’ve kept under budget.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C1D897-C73C-1D42-C7ED-360F3065B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699" y="3957707"/>
            <a:ext cx="8292129" cy="185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1674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47420D-0D95-0336-CF3A-B05F151C0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526BEC-43CD-9BF0-49A4-5532F80872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F7D9412-BDD5-20B3-2F8C-727DA3CAFC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9196FC-A124-9C52-FFCF-7DBA5EF68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441"/>
            <a:ext cx="12192000" cy="611847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8F4EA6-E3C4-7267-6DFB-F8E20362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18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1F85667-5CA0-B4A0-B79B-36996A40A8FB}"/>
              </a:ext>
            </a:extLst>
          </p:cNvPr>
          <p:cNvSpPr txBox="1"/>
          <p:nvPr/>
        </p:nvSpPr>
        <p:spPr>
          <a:xfrm>
            <a:off x="203454" y="1387866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5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8187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260AB9-1DA3-825F-7FF8-EAF3F8B04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EBAC17-B767-D077-0105-FCD863840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3156" y="218055"/>
            <a:ext cx="10945368" cy="840989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Monthly budget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0845C8-253B-387A-116C-8DA6FA609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19</a:t>
            </a:fld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4CD2E81-B90D-0FC7-6740-78C77C2E3240}"/>
              </a:ext>
            </a:extLst>
          </p:cNvPr>
          <p:cNvCxnSpPr>
            <a:cxnSpLocks/>
          </p:cNvCxnSpPr>
          <p:nvPr/>
        </p:nvCxnSpPr>
        <p:spPr>
          <a:xfrm>
            <a:off x="1524000" y="145210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417518A2-0D4F-E023-B11D-E3D09DF7CBBE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D919683-652D-62A3-FC74-E4681F212B56}"/>
              </a:ext>
            </a:extLst>
          </p:cNvPr>
          <p:cNvCxnSpPr>
            <a:cxnSpLocks/>
          </p:cNvCxnSpPr>
          <p:nvPr/>
        </p:nvCxnSpPr>
        <p:spPr>
          <a:xfrm>
            <a:off x="426860" y="114396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48AB555E-9069-8A15-C762-41EF4F062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76" y="1413464"/>
            <a:ext cx="11782043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Find any previous active budget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total_budget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used_budget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FROM budgets WHERE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%s AND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is_active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TRUE;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Determine if there was an ongoing budget to decide whether the user “succeeded” (used ≤ total) and hence increment or reset their streak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current streak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streak FROM users WHERE id = %s;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You need their existing streak count so you can bump it up (or zero it) based on last cycle’s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streak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UPDATE users SET streak = %s WHERE id = %s;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 the recalculated streak back into the user record.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Deactivate old budgets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UPDATE budgets SET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is_active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FALSE WHERE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%s;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Mark any prior budgets “closed,” so only one cycle is active at a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 new budget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INSERT INTO budgets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start_date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end_date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total_budget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is_active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used_budget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) VALUES (%s, %s, %s, %s, TRUE, 0);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Create the fresh cycle with zero spent so far.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 each category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INSERT INTO categories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name,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expected_amount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spent_amount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) VALUES (%s, %s, %s, 0);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Save every line‑item of the user’s budget plan, with the target amount and zero spent yet.</a:t>
            </a:r>
          </a:p>
        </p:txBody>
      </p:sp>
    </p:spTree>
    <p:extLst>
      <p:ext uri="{BB962C8B-B14F-4D97-AF65-F5344CB8AC3E}">
        <p14:creationId xmlns:p14="http://schemas.microsoft.com/office/powerpoint/2010/main" val="993783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E6478A-DCF2-719F-EA0E-2E9FAA7A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9EDF65-6A8A-CA7F-EFA5-9AB09C004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342" y="265149"/>
            <a:ext cx="10945368" cy="840989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Monthly budget Setup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ABFED-9E1D-1DF7-377B-A46358C73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20</a:t>
            </a:fld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691E56C-4C34-019D-2319-DBE5D7453B12}"/>
              </a:ext>
            </a:extLst>
          </p:cNvPr>
          <p:cNvCxnSpPr>
            <a:cxnSpLocks/>
          </p:cNvCxnSpPr>
          <p:nvPr/>
        </p:nvCxnSpPr>
        <p:spPr>
          <a:xfrm>
            <a:off x="1524000" y="145210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DAB084C4-D873-4598-F38C-27F6D94C30DB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5B5104-C61A-7110-3919-BA72B69726CE}"/>
              </a:ext>
            </a:extLst>
          </p:cNvPr>
          <p:cNvCxnSpPr>
            <a:cxnSpLocks/>
          </p:cNvCxnSpPr>
          <p:nvPr/>
        </p:nvCxnSpPr>
        <p:spPr>
          <a:xfrm>
            <a:off x="426860" y="125064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6FBEA7D9-0DEC-A689-52E7-F238F25630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1794" y="3429000"/>
            <a:ext cx="4471832" cy="28160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4F7009-9E32-FFBF-4395-F1264B184BD3}"/>
              </a:ext>
            </a:extLst>
          </p:cNvPr>
          <p:cNvSpPr txBox="1"/>
          <p:nvPr/>
        </p:nvSpPr>
        <p:spPr>
          <a:xfrm>
            <a:off x="387674" y="1395143"/>
            <a:ext cx="1139633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for existing “Others”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id,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expected_amount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FROM categories WHERE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%s AND name = 'Others';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Decide whether to add leftover percentage to an existing “Others” or create a new “Others” row. 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Update or insert “Others”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-- If exists: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UPDATE categories SET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expected_amount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%s WHERE id = %s; -- Otherwise: INSERT INTO categories (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name,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expected_amount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spent_amount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) VALUES (%s, 'Others', %s, 0); 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Ensure any un‑allocated portion of the budget lives in “Others” so 100% of funds are accounted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923389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D31927-D9E6-B5A6-F208-2683AB7F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1D8C2B-7543-4C08-4DBE-699086CCCF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35DB302-60D4-EAB2-A033-435505C260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857F26-0701-E27C-53D1-05A362B922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961"/>
            <a:ext cx="12192000" cy="61473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A17DD-7834-333B-C160-DF470C7CC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5FED02-7C99-DFA0-33CF-D7A1FE2D691B}"/>
              </a:ext>
            </a:extLst>
          </p:cNvPr>
          <p:cNvSpPr txBox="1"/>
          <p:nvPr/>
        </p:nvSpPr>
        <p:spPr>
          <a:xfrm>
            <a:off x="496062" y="956990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6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231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19A902-8FAF-C34C-A531-08F766C88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1E2AA7-3F2E-1175-78FD-F07CDFA9BE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06" y="454152"/>
            <a:ext cx="11570987" cy="1015832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Add Expense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BEA1FB-6CF1-86DD-4525-5CFA9FE60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22</a:t>
            </a:fld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8C6B9AC-2ABA-EFE1-7061-4D96BDE8EE7E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A6A60531-5C6E-54F7-0E16-E044D53D8528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5DE3FDE-7310-2F45-96E3-3D712B6A2CCE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31822759-F4DB-8A7C-3BF3-FDF022022D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506" y="1719399"/>
            <a:ext cx="11570987" cy="477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latin typeface="Arial" panose="020B0604020202020204" pitchFamily="34" charset="0"/>
              </a:rPr>
              <a:t>1.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Locate the relevant active budget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id FROM budgets WHERE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%s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is_active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TRUE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start_date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&lt;= %s AND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end_date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&gt;= %s;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Confirm there’s an open cycle covering the date the user is logging expenses.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Fetch its categories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SELECT id, name FROM categories WHERE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%s;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Know which category IDs to use when inserting each expense line.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Insert each expense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INSERT INTO expenses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user_id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budget_id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category_id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expense_date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, amount, note) VALUES (%s, %s, %s, %s, %s, %s);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Record the actual spend amount, date, and any note for audit and reporting.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amount to category’s spent total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UPDATE categories SET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spent_amount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spent_amount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+ %s WHERE id = %s;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Keep a running tally for each category so you can quickly show “spent vs. expected.”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amount to budget’s used total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 panose="020B0604020202020204" pitchFamily="34" charset="-128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UPDATE budgets SET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used_budget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=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used_budget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 panose="020B0604020202020204" pitchFamily="34" charset="-128"/>
              </a:rPr>
              <a:t> + %s WHERE id = %s;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FFFF00"/>
              </a:highlight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Why: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Update the overall monthly spend so the dashboard and “streak” logic stay accurate.</a:t>
            </a:r>
          </a:p>
        </p:txBody>
      </p:sp>
    </p:spTree>
    <p:extLst>
      <p:ext uri="{BB962C8B-B14F-4D97-AF65-F5344CB8AC3E}">
        <p14:creationId xmlns:p14="http://schemas.microsoft.com/office/powerpoint/2010/main" val="1170879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E637E-966B-F9F0-F1DF-E0F105419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A5A493-FDA8-2D19-F29A-911963664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0506" y="454152"/>
            <a:ext cx="11570987" cy="1015832"/>
          </a:xfr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Add Expense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74F9D9-FED2-2EF6-3924-7D810FA70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23</a:t>
            </a:fld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F70D444-2450-CA16-ACBC-67D06E9EFEB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075"/>
          <a:stretch/>
        </p:blipFill>
        <p:spPr>
          <a:xfrm>
            <a:off x="426860" y="2217108"/>
            <a:ext cx="4846180" cy="3508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7FFD1E9-EDC9-EE46-7BD9-67ECBE3A7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419" y="2333023"/>
            <a:ext cx="6192122" cy="2191953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6D850E6-0906-6BE0-CB6B-71951D31B1DA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85CADB5-D9A2-7E04-525C-D1AA7F0D6AF1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FAF4C1-6706-FC68-F315-5A34788B5AA4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0197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ABFD73-95DC-5500-189D-66C199DBF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99CFAB-815F-6A15-8FCA-143DB2722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EAAC56A-FEDE-A2F9-567D-3D1602299D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271432-51BC-8338-AA34-12600D88A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1208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7E0B3C-0815-ACC0-6A7D-2CD58E31D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24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A78686-2D5F-BCC6-504E-6376F71B6C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320" y="3938125"/>
            <a:ext cx="9606280" cy="26393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50EEC70-1B4E-5AEF-A789-FABCFA0820F9}"/>
              </a:ext>
            </a:extLst>
          </p:cNvPr>
          <p:cNvSpPr txBox="1"/>
          <p:nvPr/>
        </p:nvSpPr>
        <p:spPr>
          <a:xfrm>
            <a:off x="10769600" y="745915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7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5587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82E539-C45E-7A5A-F13F-FADD0404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DBD19A-0346-DD63-AA8E-1499BACB1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C34F47B-933A-22A1-5A6E-CDDE9D708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C7DF1C-F8EA-D8C5-D0A6-13BA247C5B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473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D85B9-07CC-6142-15AB-85D6B7164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25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60576-BC35-563F-0368-C4A5F344F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5555" y="4095646"/>
            <a:ext cx="6697010" cy="148610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0367AA6-1C70-EC14-8833-4487B8CCD87E}"/>
              </a:ext>
            </a:extLst>
          </p:cNvPr>
          <p:cNvSpPr txBox="1"/>
          <p:nvPr/>
        </p:nvSpPr>
        <p:spPr>
          <a:xfrm>
            <a:off x="496062" y="956990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8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099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F4EA83-2CAF-5227-B874-5622D3799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9D5F704-84A1-63CD-EB15-FBC9B2D24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F5C9F95-72FF-7BE2-A047-DB090E8492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24B505-9D6B-3E7F-1931-F03D7EF2C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2116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C825A-0200-4CE6-275B-C211664E1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26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044D8C-E869-F71F-9ADF-49CE4E4DB7E0}"/>
              </a:ext>
            </a:extLst>
          </p:cNvPr>
          <p:cNvSpPr txBox="1"/>
          <p:nvPr/>
        </p:nvSpPr>
        <p:spPr>
          <a:xfrm>
            <a:off x="496062" y="956990"/>
            <a:ext cx="817626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9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46809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6BB784-9649-2DD2-AE6B-4CC43AE6F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A11D35-8E0C-DCEB-9FF0-41800FB88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6616" y="409841"/>
            <a:ext cx="11448288" cy="836723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800" b="1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Reports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AA021-D29E-2637-3B48-81611A9EB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27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DF3F5-8DB0-A934-7B75-0BC213D59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616" y="1896168"/>
            <a:ext cx="4972744" cy="371526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893B15F-2A0E-BAA6-EAA5-6BC9FB42FF8E}"/>
              </a:ext>
            </a:extLst>
          </p:cNvPr>
          <p:cNvCxnSpPr>
            <a:cxnSpLocks/>
          </p:cNvCxnSpPr>
          <p:nvPr/>
        </p:nvCxnSpPr>
        <p:spPr>
          <a:xfrm>
            <a:off x="1524000" y="144194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CD1440DE-C028-37D7-3007-A9C7B75989DE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8FCAD45-5254-AD69-5394-20BB5161AC21}"/>
              </a:ext>
            </a:extLst>
          </p:cNvPr>
          <p:cNvCxnSpPr>
            <a:cxnSpLocks/>
          </p:cNvCxnSpPr>
          <p:nvPr/>
        </p:nvCxnSpPr>
        <p:spPr>
          <a:xfrm>
            <a:off x="426860" y="15198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6039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17B0B4-E5B6-CE67-0F00-EA27F96D5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E9F05A0-3FAA-0FCD-0557-5489C1335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0324DED-3474-6298-39ED-E6B4131202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92C11D-EB6F-7B21-1C10-2E4DE278AA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1403"/>
            <a:ext cx="12192000" cy="615080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7C559-6B4B-F6AF-2546-3238BB12D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28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4292C6-811E-9838-5097-FBCAC15BF3FD}"/>
              </a:ext>
            </a:extLst>
          </p:cNvPr>
          <p:cNvSpPr txBox="1"/>
          <p:nvPr/>
        </p:nvSpPr>
        <p:spPr>
          <a:xfrm>
            <a:off x="496062" y="1002710"/>
            <a:ext cx="884682" cy="822305"/>
          </a:xfrm>
          <a:prstGeom prst="flowChartConnector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10</a:t>
            </a:r>
            <a:endParaRPr lang="en-IN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830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B668DA-3E20-592C-3A89-9EBD4E5BF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3D4B561-5E07-3B01-0291-B9503B000F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56" y="502636"/>
            <a:ext cx="11219688" cy="870711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Reset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DA4BB9-9AC9-9A6E-5C73-D8059413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29</a:t>
            </a:fld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6692D8-649F-134C-CAFA-D8DD9EB2F7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24" y="1885903"/>
            <a:ext cx="6234109" cy="27244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EF5704-5CD4-DAF3-6E2F-168BE6F3E6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266"/>
          <a:stretch/>
        </p:blipFill>
        <p:spPr>
          <a:xfrm>
            <a:off x="6577797" y="1885903"/>
            <a:ext cx="5318548" cy="365032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CB20867-3123-E578-D2E2-6FE4585D77D2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ED508809-915B-ED32-8E79-BD3B6E394F41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58D649-4EDB-6903-FFD2-55B6C7AA4C0B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305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C23B02-F7BF-0C78-C6B7-1AE444FBC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839CB6-DAC5-25E0-38E2-DA0CA0458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DF49936-A77D-6F57-7827-C54351B151B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0ED84F-18A5-CE32-419D-6C5F1BF44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192000" cy="6173164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CBD701-D266-3004-EBA1-20C6BDE1B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30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E1EC01-B053-3493-B11D-6F0289E28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3551" y="2995436"/>
            <a:ext cx="6624897" cy="356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542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142C6C-9261-9DB3-0A36-DAB813335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7A32243-56AC-D93E-8E83-0236A359D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6156" y="502636"/>
            <a:ext cx="11219688" cy="870711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IN" sz="4000" b="1" dirty="0"/>
              <a:t>Challenges Faced</a:t>
            </a:r>
            <a:endParaRPr lang="en-IN" sz="11500" b="1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5B68B-E28F-45FD-7E43-83D9C8136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31</a:t>
            </a:fld>
            <a:endParaRPr lang="en-IN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5FB8DF-427C-0712-E546-17825408736D}"/>
              </a:ext>
            </a:extLst>
          </p:cNvPr>
          <p:cNvCxnSpPr>
            <a:cxnSpLocks/>
          </p:cNvCxnSpPr>
          <p:nvPr/>
        </p:nvCxnSpPr>
        <p:spPr>
          <a:xfrm>
            <a:off x="1524000" y="1431784"/>
            <a:ext cx="9144000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311723C0-FD2F-5822-7ED1-1CF3C70C21B8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71F112-5547-A577-E656-5EBABC9076BC}"/>
              </a:ext>
            </a:extLst>
          </p:cNvPr>
          <p:cNvCxnSpPr>
            <a:cxnSpLocks/>
          </p:cNvCxnSpPr>
          <p:nvPr/>
        </p:nvCxnSpPr>
        <p:spPr>
          <a:xfrm>
            <a:off x="426860" y="1570680"/>
            <a:ext cx="11396332" cy="0"/>
          </a:xfrm>
          <a:prstGeom prst="line">
            <a:avLst/>
          </a:prstGeom>
          <a:ln>
            <a:solidFill>
              <a:srgbClr val="223127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763AA0-AB40-DB45-0AE5-852217F6179C}"/>
              </a:ext>
            </a:extLst>
          </p:cNvPr>
          <p:cNvSpPr txBox="1"/>
          <p:nvPr/>
        </p:nvSpPr>
        <p:spPr>
          <a:xfrm>
            <a:off x="4130560" y="2515495"/>
            <a:ext cx="75752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 </a:t>
            </a:r>
            <a:r>
              <a:rPr lang="en-IN" b="1" dirty="0"/>
              <a:t>Database Design</a:t>
            </a:r>
          </a:p>
          <a:p>
            <a:r>
              <a:rPr lang="en-IN" dirty="0"/>
              <a:t>Hard to avoid data repetition. → Solved using normalization (1NF, 2NF, 3NF).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Login System</a:t>
            </a:r>
          </a:p>
          <a:p>
            <a:r>
              <a:rPr lang="en-IN" dirty="0"/>
              <a:t>Needed secure user accounts. → Used password hashing and unique emails.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Updating Budgets</a:t>
            </a:r>
          </a:p>
          <a:p>
            <a:r>
              <a:rPr lang="en-IN" dirty="0"/>
              <a:t>Updating totals after each expense was tricky. → Handled in Flask backend.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27E43ED-18BA-DD79-8DEC-E8677C2C8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91" y="2140752"/>
            <a:ext cx="3119593" cy="311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2816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3C55E-A983-F465-0980-0309BEB8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CAF9A4-DECA-415A-8C3F-22CA6B70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EC7F1-E0A0-4746-8AEE-00D8D8D104A7}" type="slidenum">
              <a:rPr lang="en-IN" smtClean="0"/>
              <a:t>32</a:t>
            </a:fld>
            <a:endParaRPr lang="en-IN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A4D0DC-56E9-2983-6CD0-D21561C1F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049198" y="2123376"/>
            <a:ext cx="3035808" cy="303580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5937B2C-B674-B613-8660-E246A42953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1199303">
            <a:off x="4567936" y="2123376"/>
            <a:ext cx="3035808" cy="3035808"/>
          </a:xfrm>
          <a:prstGeom prst="rect">
            <a:avLst/>
          </a:prstGeom>
        </p:spPr>
      </p:pic>
      <p:sp>
        <p:nvSpPr>
          <p:cNvPr id="9" name="Title 3">
            <a:extLst>
              <a:ext uri="{FF2B5EF4-FFF2-40B4-BE49-F238E27FC236}">
                <a16:creationId xmlns:a16="http://schemas.microsoft.com/office/drawing/2014/main" id="{8FF1E8EF-8935-6E4B-9B3E-734D09CFE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93920" y="2280666"/>
            <a:ext cx="2310384" cy="2154174"/>
          </a:xfrm>
          <a:prstGeom prst="flowChartConnector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.</a:t>
            </a:r>
            <a:endParaRPr lang="en-IN" sz="4800" dirty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F1CC04-35EF-0846-AD40-BFFAC7E376DA}"/>
              </a:ext>
            </a:extLst>
          </p:cNvPr>
          <p:cNvSpPr txBox="1"/>
          <p:nvPr/>
        </p:nvSpPr>
        <p:spPr>
          <a:xfrm>
            <a:off x="4613218" y="3034587"/>
            <a:ext cx="24717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</a:rPr>
              <a:t>THE END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7015FE32-8F4E-A340-616B-BFD75908F6D4}"/>
              </a:ext>
            </a:extLst>
          </p:cNvPr>
          <p:cNvSpPr/>
          <p:nvPr/>
        </p:nvSpPr>
        <p:spPr>
          <a:xfrm>
            <a:off x="111760" y="142240"/>
            <a:ext cx="11948160" cy="6579235"/>
          </a:xfrm>
          <a:prstGeom prst="flowChartProcess">
            <a:avLst/>
          </a:prstGeom>
          <a:noFill/>
          <a:ln w="9525" cap="flat" cmpd="sng" algn="ctr">
            <a:solidFill>
              <a:srgbClr val="223127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0690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Grunge 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633</TotalTime>
  <Words>2168</Words>
  <Application>Microsoft Office PowerPoint</Application>
  <PresentationFormat>Widescreen</PresentationFormat>
  <Paragraphs>325</Paragraphs>
  <Slides>32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 Unicode MS</vt:lpstr>
      <vt:lpstr>Arial</vt:lpstr>
      <vt:lpstr>Arial Black</vt:lpstr>
      <vt:lpstr>Calibri</vt:lpstr>
      <vt:lpstr>Calibri Light</vt:lpstr>
      <vt:lpstr>Segoe UI Semibold</vt:lpstr>
      <vt:lpstr>Wingdings</vt:lpstr>
      <vt:lpstr>Office Theme</vt:lpstr>
      <vt:lpstr>DBMS Project Presentation</vt:lpstr>
      <vt:lpstr>Introduction</vt:lpstr>
      <vt:lpstr>Problem Statement</vt:lpstr>
      <vt:lpstr>System Architecture</vt:lpstr>
      <vt:lpstr>ER Diagram</vt:lpstr>
      <vt:lpstr>Reverse Engineering Diagram  </vt:lpstr>
      <vt:lpstr>Database Schema</vt:lpstr>
      <vt:lpstr>Database Schema</vt:lpstr>
      <vt:lpstr>Normalization</vt:lpstr>
      <vt:lpstr> Budget Buddy – Basic Flow </vt:lpstr>
      <vt:lpstr>PowerPoint Presentation</vt:lpstr>
      <vt:lpstr>PowerPoint Presentation</vt:lpstr>
      <vt:lpstr>Register</vt:lpstr>
      <vt:lpstr>PowerPoint Presentation</vt:lpstr>
      <vt:lpstr>Login</vt:lpstr>
      <vt:lpstr>PowerPoint Presentation</vt:lpstr>
      <vt:lpstr>Dashboard</vt:lpstr>
      <vt:lpstr>PowerPoint Presentation</vt:lpstr>
      <vt:lpstr>Monthly budget Setup</vt:lpstr>
      <vt:lpstr>Monthly budget Setup</vt:lpstr>
      <vt:lpstr>PowerPoint Presentation</vt:lpstr>
      <vt:lpstr>Add Expense</vt:lpstr>
      <vt:lpstr>Add Expense</vt:lpstr>
      <vt:lpstr>PowerPoint Presentation</vt:lpstr>
      <vt:lpstr>PowerPoint Presentation</vt:lpstr>
      <vt:lpstr>PowerPoint Presentation</vt:lpstr>
      <vt:lpstr>Reports</vt:lpstr>
      <vt:lpstr>PowerPoint Presentation</vt:lpstr>
      <vt:lpstr>Reset</vt:lpstr>
      <vt:lpstr>PowerPoint Presentation</vt:lpstr>
      <vt:lpstr>Challenges Faced</vt:lpstr>
      <vt:lpstr>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Kammala Kalyan</dc:creator>
  <cp:lastModifiedBy>Kammala Kalyan</cp:lastModifiedBy>
  <cp:revision>7</cp:revision>
  <dcterms:created xsi:type="dcterms:W3CDTF">2025-05-17T10:00:47Z</dcterms:created>
  <dcterms:modified xsi:type="dcterms:W3CDTF">2025-05-23T06:52:21Z</dcterms:modified>
</cp:coreProperties>
</file>